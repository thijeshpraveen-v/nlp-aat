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5"/>
  </p:notesMasterIdLst>
  <p:sldIdLst>
    <p:sldId id="256" r:id="rId2"/>
    <p:sldId id="257" r:id="rId3"/>
    <p:sldId id="276" r:id="rId18"/>
    <p:sldId id="277" r:id="rId19"/>
    <p:sldId id="278"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75" r:id="rId4"/>
  </p:sldIdLst>
  <p:sldSz cx="9144000" cy="5143500" type="screen16x9"/>
  <p:notesSz cx="6858000" cy="9144000"/>
  <p:embeddedFontLst>
    <p:embeddedFont>
      <p:font typeface="Corsiva" panose="020B0604020202020204" charset="0"/>
      <p:regular r:id="rId6"/>
      <p:bold r:id="rId7"/>
      <p:italic r:id="rId8"/>
      <p:boldItalic r:id="rId9"/>
    </p:embeddedFont>
    <p:embeddedFont>
      <p:font typeface="Times" panose="02020603050405020304" pitchFamily="18"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487D00-FA29-44B3-BBA6-087FA463A403}">
  <a:tblStyle styleId="{8E487D00-FA29-44B3-BBA6-087FA463A40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font" Target="fonts/font1.fntdata"/><Relationship Id="rId7" Type="http://schemas.openxmlformats.org/officeDocument/2006/relationships/font" Target="fonts/font2.fntdata"/><Relationship Id="rId8" Type="http://schemas.openxmlformats.org/officeDocument/2006/relationships/font" Target="fonts/font3.fntdata"/><Relationship Id="rId9" Type="http://schemas.openxmlformats.org/officeDocument/2006/relationships/font" Target="fonts/font4.fntdata"/><Relationship Id="rId10" Type="http://schemas.openxmlformats.org/officeDocument/2006/relationships/font" Target="fonts/font5.fntdata"/><Relationship Id="rId11" Type="http://schemas.openxmlformats.org/officeDocument/2006/relationships/font" Target="fonts/font6.fntdata"/><Relationship Id="rId12" Type="http://schemas.openxmlformats.org/officeDocument/2006/relationships/font" Target="fonts/font7.fntdata"/><Relationship Id="rId13" Type="http://schemas.openxmlformats.org/officeDocument/2006/relationships/font" Target="fonts/font8.fntdata"/><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4.xml"/><Relationship Id="rId29" Type="http://schemas.openxmlformats.org/officeDocument/2006/relationships/slide" Target="slides/slide15.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 pretrained</c:v>
                </c:pt>
              </c:strCache>
            </c:strRef>
          </c:tx>
          <c:spPr>
            <a:solidFill>
              <a:srgbClr val="9AA5B1"/>
            </a:solidFill>
          </c:spPr>
          <c:cat>
            <c:strRef>
              <c:f>Sheet1!$A$2:$A$11</c:f>
              <c:strCache>
                <c:ptCount val="10"/>
                <c:pt idx="0">
                  <c:v>NAME</c:v>
                </c:pt>
                <c:pt idx="1">
                  <c:v>EMAIL</c:v>
                </c:pt>
                <c:pt idx="2">
                  <c:v>LOCATION</c:v>
                </c:pt>
                <c:pt idx="3">
                  <c:v>COLLEGE</c:v>
                </c:pt>
                <c:pt idx="4">
                  <c:v>DEGREE</c:v>
                </c:pt>
                <c:pt idx="5">
                  <c:v>GRAD. YEAR</c:v>
                </c:pt>
                <c:pt idx="6">
                  <c:v>COMPANY</c:v>
                </c:pt>
                <c:pt idx="7">
                  <c:v>DESIGNATION</c:v>
                </c:pt>
                <c:pt idx="8">
                  <c:v>YRS EXP.</c:v>
                </c:pt>
                <c:pt idx="9">
                  <c:v>SKILLS</c:v>
                </c:pt>
              </c:strCache>
            </c:strRef>
          </c:cat>
          <c:val>
            <c:numRef>
              <c:f>Sheet1!$B$2:$B$11</c:f>
              <c:numCache>
                <c:formatCode>General</c:formatCode>
                <c:ptCount val="10"/>
                <c:pt idx="0">
                  <c:v>25.3</c:v>
                </c:pt>
                <c:pt idx="1">
                  <c:v>0.0</c:v>
                </c:pt>
                <c:pt idx="2">
                  <c:v>16.7</c:v>
                </c:pt>
                <c:pt idx="3">
                  <c:v>0.0</c:v>
                </c:pt>
                <c:pt idx="4">
                  <c:v>0.0</c:v>
                </c:pt>
                <c:pt idx="5">
                  <c:v>0.0</c:v>
                </c:pt>
                <c:pt idx="6">
                  <c:v>9.7</c:v>
                </c:pt>
                <c:pt idx="7">
                  <c:v>0.0</c:v>
                </c:pt>
                <c:pt idx="8">
                  <c:v>0.0</c:v>
                </c:pt>
                <c:pt idx="9">
                  <c:v>0.0</c:v>
                </c:pt>
              </c:numCache>
            </c:numRef>
          </c:val>
        </c:ser>
        <c:ser>
          <c:idx val="1"/>
          <c:order val="1"/>
          <c:tx>
            <c:strRef>
              <c:f>Sheet1!$C$1</c:f>
              <c:strCache>
                <c:ptCount val="1"/>
                <c:pt idx="0">
                  <c:v>After: fine-tuned</c:v>
                </c:pt>
              </c:strCache>
            </c:strRef>
          </c:tx>
          <c:spPr>
            <a:solidFill>
              <a:srgbClr val="C00000"/>
            </a:solidFill>
          </c:spPr>
          <c:cat>
            <c:strRef>
              <c:f>Sheet1!$A$2:$A$11</c:f>
              <c:strCache>
                <c:ptCount val="10"/>
                <c:pt idx="0">
                  <c:v>NAME</c:v>
                </c:pt>
                <c:pt idx="1">
                  <c:v>EMAIL</c:v>
                </c:pt>
                <c:pt idx="2">
                  <c:v>LOCATION</c:v>
                </c:pt>
                <c:pt idx="3">
                  <c:v>COLLEGE</c:v>
                </c:pt>
                <c:pt idx="4">
                  <c:v>DEGREE</c:v>
                </c:pt>
                <c:pt idx="5">
                  <c:v>GRAD. YEAR</c:v>
                </c:pt>
                <c:pt idx="6">
                  <c:v>COMPANY</c:v>
                </c:pt>
                <c:pt idx="7">
                  <c:v>DESIGNATION</c:v>
                </c:pt>
                <c:pt idx="8">
                  <c:v>YRS EXP.</c:v>
                </c:pt>
                <c:pt idx="9">
                  <c:v>SKILLS</c:v>
                </c:pt>
              </c:strCache>
            </c:strRef>
          </c:cat>
          <c:val>
            <c:numRef>
              <c:f>Sheet1!$C$2:$C$11</c:f>
              <c:numCache>
                <c:formatCode>General</c:formatCode>
                <c:ptCount val="10"/>
                <c:pt idx="0">
                  <c:v>82.9</c:v>
                </c:pt>
                <c:pt idx="1">
                  <c:v>59.2</c:v>
                </c:pt>
                <c:pt idx="2">
                  <c:v>60.0</c:v>
                </c:pt>
                <c:pt idx="3">
                  <c:v>37.0</c:v>
                </c:pt>
                <c:pt idx="4">
                  <c:v>49.5</c:v>
                </c:pt>
                <c:pt idx="5">
                  <c:v>45.7</c:v>
                </c:pt>
                <c:pt idx="6">
                  <c:v>48.7</c:v>
                </c:pt>
                <c:pt idx="7">
                  <c:v>37.5</c:v>
                </c:pt>
                <c:pt idx="8">
                  <c:v>13.3</c:v>
                </c:pt>
                <c:pt idx="9">
                  <c:v>11.1</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900"/>
            </a:pPr>
          </a:p>
        </c:txPr>
        <c:crossAx val="-2113994440"/>
        <c:crosses val="autoZero"/>
        <c:auto val="1"/>
        <c:lblAlgn val="ctr"/>
        <c:lblOffset val="100"/>
        <c:noMultiLvlLbl val="0"/>
      </c:catAx>
      <c:valAx>
        <c:axId val="-2113994440"/>
        <c:scaling>
          <c:max val="100.0"/>
          <c:min val="0.0"/>
        </c:scaling>
        <c:delete val="0"/>
        <c:axPos val="l"/>
        <c:majorGridlines>
          <c:spPr>
            <a:ln>
              <a:solidFill>
                <a:srgbClr val="D9D9D9"/>
              </a:solidFill>
            </a:ln>
          </c:spPr>
        </c:majorGridlines>
        <c:majorTickMark val="out"/>
        <c:minorTickMark val="none"/>
        <c:tickLblPos val="nextTo"/>
        <c:spPr>
          <a:ln>
            <a:noFill/>
          </a:ln>
        </c:spPr>
        <c:txPr>
          <a:bodyPr/>
          <a:lstStyle/>
          <a:p>
            <a:pPr>
              <a:defRPr sz="900"/>
            </a:pPr>
          </a:p>
        </c:txPr>
        <c:crossAx val="-2068027336"/>
        <c:crosses val="autoZero"/>
      </c:valAx>
    </c:plotArea>
    <c:legend>
      <c:legendPos val="t"/>
      <c:overlay val="0"/>
      <c:txPr>
        <a:bodyPr/>
        <a:lstStyle/>
        <a:p>
          <a:pPr>
            <a:defRPr sz="1000"/>
          </a:pPr>
        </a:p>
      </c:txPr>
    </c:legend>
    <c:dispBlanksAs val="gap"/>
  </c:chart>
  <c:txPr>
    <a:bodyPr/>
    <a:lstStyle/>
    <a:p>
      <a:pPr>
        <a:defRPr sz="1000">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Before: pretrained</c:v>
                </c:pt>
              </c:strCache>
            </c:strRef>
          </c:tx>
          <c:spPr>
            <a:solidFill>
              <a:srgbClr val="9AA5B1"/>
            </a:solidFill>
          </c:spPr>
          <c:cat>
            <c:strRef>
              <c:f>Sheet1!$A$2:$A$6</c:f>
              <c:strCache>
                <c:ptCount val="5"/>
                <c:pt idx="0">
                  <c:v>Fold 1</c:v>
                </c:pt>
                <c:pt idx="1">
                  <c:v>Fold 2</c:v>
                </c:pt>
                <c:pt idx="2">
                  <c:v>Fold 3</c:v>
                </c:pt>
                <c:pt idx="3">
                  <c:v>Fold 4</c:v>
                </c:pt>
                <c:pt idx="4">
                  <c:v>Fold 5</c:v>
                </c:pt>
              </c:strCache>
            </c:strRef>
          </c:cat>
          <c:val>
            <c:numRef>
              <c:f>Sheet1!$B$2:$B$6</c:f>
              <c:numCache>
                <c:formatCode>General</c:formatCode>
                <c:ptCount val="5"/>
                <c:pt idx="0">
                  <c:v>9.0</c:v>
                </c:pt>
                <c:pt idx="1">
                  <c:v>11.9</c:v>
                </c:pt>
                <c:pt idx="2">
                  <c:v>9.5</c:v>
                </c:pt>
                <c:pt idx="3">
                  <c:v>9.6</c:v>
                </c:pt>
                <c:pt idx="4">
                  <c:v>10.9</c:v>
                </c:pt>
              </c:numCache>
            </c:numRef>
          </c:val>
        </c:ser>
        <c:ser>
          <c:idx val="1"/>
          <c:order val="1"/>
          <c:tx>
            <c:strRef>
              <c:f>Sheet1!$C$1</c:f>
              <c:strCache>
                <c:ptCount val="1"/>
                <c:pt idx="0">
                  <c:v>After: fine-tuned</c:v>
                </c:pt>
              </c:strCache>
            </c:strRef>
          </c:tx>
          <c:spPr>
            <a:solidFill>
              <a:srgbClr val="C00000"/>
            </a:solidFill>
          </c:spPr>
          <c:cat>
            <c:strRef>
              <c:f>Sheet1!$A$2:$A$6</c:f>
              <c:strCache>
                <c:ptCount val="5"/>
                <c:pt idx="0">
                  <c:v>Fold 1</c:v>
                </c:pt>
                <c:pt idx="1">
                  <c:v>Fold 2</c:v>
                </c:pt>
                <c:pt idx="2">
                  <c:v>Fold 3</c:v>
                </c:pt>
                <c:pt idx="3">
                  <c:v>Fold 4</c:v>
                </c:pt>
                <c:pt idx="4">
                  <c:v>Fold 5</c:v>
                </c:pt>
              </c:strCache>
            </c:strRef>
          </c:cat>
          <c:val>
            <c:numRef>
              <c:f>Sheet1!$C$2:$C$6</c:f>
              <c:numCache>
                <c:formatCode>General</c:formatCode>
                <c:ptCount val="5"/>
                <c:pt idx="0">
                  <c:v>42.5</c:v>
                </c:pt>
                <c:pt idx="1">
                  <c:v>37.9</c:v>
                </c:pt>
                <c:pt idx="2">
                  <c:v>44.3</c:v>
                </c:pt>
                <c:pt idx="3">
                  <c:v>41.5</c:v>
                </c:pt>
                <c:pt idx="4">
                  <c:v>37.2</c:v>
                </c:pt>
              </c:numCache>
            </c:numRef>
          </c:val>
        </c:ser>
        <c:dLbls>
          <c:numFmt formatCode="0.0" sourceLinked="0"/>
          <c:txPr>
            <a:bodyPr/>
            <a:lstStyle/>
            <a:p>
              <a:pPr>
                <a:defRPr sz="900"/>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000"/>
            </a:pPr>
          </a:p>
        </c:txPr>
        <c:crossAx val="-2113994440"/>
        <c:crosses val="autoZero"/>
        <c:auto val="1"/>
        <c:lblAlgn val="ctr"/>
        <c:lblOffset val="100"/>
        <c:noMultiLvlLbl val="0"/>
      </c:catAx>
      <c:valAx>
        <c:axId val="-2113994440"/>
        <c:scaling>
          <c:max val="100.0"/>
          <c:min val="0.0"/>
        </c:scaling>
        <c:delete val="0"/>
        <c:axPos val="l"/>
        <c:majorGridlines>
          <c:spPr>
            <a:ln>
              <a:solidFill>
                <a:srgbClr val="D9D9D9"/>
              </a:solidFill>
            </a:ln>
          </c:spPr>
        </c:majorGridlines>
        <c:majorTickMark val="out"/>
        <c:minorTickMark val="none"/>
        <c:tickLblPos val="nextTo"/>
        <c:spPr>
          <a:ln>
            <a:noFill/>
          </a:ln>
        </c:spPr>
        <c:txPr>
          <a:bodyPr/>
          <a:lstStyle/>
          <a:p>
            <a:pPr>
              <a:defRPr sz="1000"/>
            </a:pPr>
          </a:p>
        </c:txPr>
        <c:crossAx val="-2068027336"/>
        <c:crosses val="autoZero"/>
      </c:valAx>
    </c:plotArea>
    <c:legend>
      <c:legendPos val="t"/>
      <c:overlay val="0"/>
      <c:txPr>
        <a:bodyPr/>
        <a:lstStyle/>
        <a:p>
          <a:pPr>
            <a:defRPr sz="1100"/>
          </a:pPr>
        </a:p>
      </c:txPr>
    </c:legend>
    <c:dispBlanksAs val="gap"/>
  </c:chart>
  <c:txPr>
    <a:bodyPr/>
    <a:lstStyle/>
    <a:p>
      <a:pPr>
        <a:defRPr sz="11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Test micro-F1</c:v>
                </c:pt>
              </c:strCache>
            </c:strRef>
          </c:tx>
          <c:spPr>
            <a:solidFill>
              <a:srgbClr val="C00000"/>
            </a:solidFill>
          </c:spPr>
          <c:cat>
            <c:strRef>
              <c:f>Sheet1!$A$2:$A$8</c:f>
              <c:strCache>
                <c:ptCount val="7"/>
                <c:pt idx="0">
                  <c:v>no normalisation</c:v>
                </c:pt>
                <c:pt idx="1">
                  <c:v>truncation (no sliding)</c:v>
                </c:pt>
                <c:pt idx="2">
                  <c:v>oversampling</c:v>
                </c:pt>
                <c:pt idx="3">
                  <c:v>class-weighted loss</c:v>
                </c:pt>
                <c:pt idx="4">
                  <c:v>5 epochs</c:v>
                </c:pt>
                <c:pt idx="5">
                  <c:v>+ regex rules</c:v>
                </c:pt>
                <c:pt idx="6">
                  <c:v>Final model</c:v>
                </c:pt>
              </c:strCache>
            </c:strRef>
          </c:cat>
          <c:val>
            <c:numRef>
              <c:f>Sheet1!$B$2:$B$8</c:f>
              <c:numCache>
                <c:formatCode>General</c:formatCode>
                <c:ptCount val="7"/>
                <c:pt idx="0">
                  <c:v>44.7</c:v>
                </c:pt>
                <c:pt idx="1">
                  <c:v>38.5</c:v>
                </c:pt>
                <c:pt idx="2">
                  <c:v>43.2</c:v>
                </c:pt>
                <c:pt idx="3">
                  <c:v>33.9</c:v>
                </c:pt>
                <c:pt idx="4">
                  <c:v>31.1</c:v>
                </c:pt>
                <c:pt idx="5">
                  <c:v>45.6</c:v>
                </c:pt>
                <c:pt idx="6">
                  <c:v>44.8</c:v>
                </c:pt>
              </c:numCache>
            </c:numRef>
          </c:val>
        </c:ser>
        <c:dLbls>
          <c:numFmt formatCode="0.0"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BFBFBF"/>
            </a:solidFill>
          </a:ln>
        </c:spPr>
        <c:txPr>
          <a:bodyPr/>
          <a:lstStyle/>
          <a:p>
            <a:pPr>
              <a:defRPr sz="900"/>
            </a:pPr>
          </a:p>
        </c:txPr>
        <c:crossAx val="-2113994440"/>
        <c:crosses val="autoZero"/>
        <c:auto val="1"/>
        <c:lblAlgn val="ctr"/>
        <c:lblOffset val="100"/>
        <c:noMultiLvlLbl val="0"/>
      </c:catAx>
      <c:valAx>
        <c:axId val="-2113994440"/>
        <c:scaling>
          <c:max val="60.0"/>
          <c:min val="0.0"/>
        </c:scaling>
        <c:delete val="0"/>
        <c:axPos val="b"/>
        <c:majorGridlines>
          <c:spPr>
            <a:ln>
              <a:solidFill>
                <a:srgbClr val="D9D9D9"/>
              </a:solidFill>
            </a:ln>
          </c:spPr>
        </c:majorGridlines>
        <c:majorTickMark val="out"/>
        <c:minorTickMark val="none"/>
        <c:tickLblPos val="nextTo"/>
        <c:spPr>
          <a:ln>
            <a:noFill/>
          </a:ln>
        </c:spPr>
        <c:txPr>
          <a:bodyPr/>
          <a:lstStyle/>
          <a:p>
            <a:pPr>
              <a:defRPr sz="900"/>
            </a:pPr>
          </a:p>
        </c:txPr>
        <c:crossAx val="-2068027336"/>
        <c:crosses val="autoZero"/>
      </c:valAx>
    </c:plotArea>
    <c:dispBlanksAs val="gap"/>
  </c:chart>
  <c:txPr>
    <a:bodyPr/>
    <a:lstStyle/>
    <a:p>
      <a:pPr>
        <a:defRPr sz="10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41ff7052ff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Title: Named Entity Recognition for Resume Parsing: Pretrained vs Fine-Tuned BERT. Presented by Thijesh Praveen (1BM23AI200) and Uday Kumar M (1BM23AI203), 7th semester, section C. Course: Natural Language Processing for LLM (24AM7PCLLM).</a:t>
            </a:r>
          </a:p>
        </p:txBody>
      </p:sp>
      <p:sp>
        <p:nvSpPr>
          <p:cNvPr id="301" name="Google Shape;301;g141ff7052ff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141ff7052ff_0_2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The talk follows the structure of the report: introduction, the NER task, our application, the BERT model, data and preprocessing, implementation, results, discussion, conclusion and references.</a:t>
            </a:r>
          </a:p>
        </p:txBody>
      </p:sp>
      <p:sp>
        <p:nvSpPr>
          <p:cNvPr id="311" name="Google Shape;311;g141ff7052ff_0_2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141ff7052ff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g141ff7052ff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Recruiters and applicant tracking systems receive resumes as unstructured PDFs and Word files. To search or match candidates, the text must become structured fields. NER does that extraction. Our question: how well does an off-the-shelf NER model do on resumes, and how much does fine-tuning help?</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NER is sequence labelling. Every word gets a BIO label: B for the first word of an entity, I for the following words, O for everything else. Ten entity types give 21 labels. The example shows a real header from the test set, tagged by the fine-tuned model.</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Our application: FastAPI backend with POST /parse, React front end. The same pipeline serves the CLI, API and demo. Both models are available so the demo can show them side by side. Commercial parsers such as Affinda and Textkernel offer the same idea as paid REST APIs returning JSON.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DataTurks Resume Entities for NER from Kaggle: 220 resumes, one duplicate removed. 86 percent of words are outside any entity. Companies are frequent, years of experience very rare, and skills spans are very long because whole sections were annotated.</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Character spans are converted to word-level BIO labels. Cleaning replaces noise characters one for one so offsets stay valid. Stopwords are NOT removed and no lemmatisation is done, because NER must label every word and entities contain function words. A round trip back to spans recovers 99 percent.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dslim/bert-base-NER is BERT-base-cased fine-tuned on CoNLL-2003 news NER. Before: we use it as is and map PER, ORG, LOC to our types. After: we keep the encoder, replace the 9-label head by a 21-label head and fine-tune the whole network on resumes. Self-attention lets each token use context from both sides.</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Learning rate and batch size were chosen by a grid search on the validation set only. The best was learning rate 3e-05, batch size 8, 10 epochs. Training took about 3 minutes on the laptop GPU. Validation F1 kept rising to the last epoch while validation loss rose after epoch 4, so we select checkpoints by F1.</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Same test split, same metric: seqeval strict entity-level F1. The pretrained model only scores on NAME, LOCATION and COMPANY, and is zero on the seven types it cannot express. After fine-tuning every type improves; NAME reaches 82.9 percent. SKILLS and years of experience stay hard.</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Cross-validation gives a more reliable estimate: 40.7 plus or minus 2.7 for the fine-tuned model against 10.2 for the pretrained model; fine-tuning wins on every fold. Inference cost is the same for both models because the architecture is the same.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pretrained model tags universities as companies and splits header lines. The fine-tuned model reproduces the resume labels: degrees, colleges, graduation years and Indeed profile links.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ablation changes one setting. Sliding windows and enough epochs matter most; class weighting hurts; the regex rule layer adds a little through EMAIL. Most remaining errors are boundary errors and spurious predictions, many of which are real but unannotated entities.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Live demo: run uvicorn app.api:app and open localhost:8000. Pick test_resume_082 and the side-by-side view: gold, pretrained and fine-tuned columns with per-document F1. Then upload the fictional PDF and switch to structured fields. Deep link: /?sample=test_resume_082.txt&amp;mode=compare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Fine-tuning helps for two reasons: the label set changes and the annotation guidelines differ from news. The challenges were span alignment, sub-word alignment, long resumes and the tiny, noisy dataset.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Summary: same model, same data, same metric. Fine-tuning raised micro F1 from about 10 to about 45 percent and the system runs on a laptop CPU. Next steps: layout-aware models such as LayoutLM, cleaner and larger data, LLM-based extraction for comparison, and a fairness audit before any use in hiring.</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All references are real and verified; the full list in IEEE style is in the report.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30"/>
        <p:cNvGrpSpPr/>
        <p:nvPr/>
      </p:nvGrpSpPr>
      <p:grpSpPr>
        <a:xfrm>
          <a:off x="0" y="0"/>
          <a:ext cx="0" cy="0"/>
          <a:chOff x="0" y="0"/>
          <a:chExt cx="0" cy="0"/>
        </a:xfrm>
      </p:grpSpPr>
      <p:sp>
        <p:nvSpPr>
          <p:cNvPr id="231" name="Google Shape;231;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32" name="Google Shape;232;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rtl="0">
              <a:lnSpc>
                <a:spcPct val="90000"/>
              </a:lnSpc>
              <a:spcBef>
                <a:spcPts val="800"/>
              </a:spcBef>
              <a:spcAft>
                <a:spcPts val="0"/>
              </a:spcAft>
              <a:buClr>
                <a:schemeClr val="dk1"/>
              </a:buClr>
              <a:buSzPts val="1800"/>
              <a:buNone/>
              <a:defRPr sz="1800"/>
            </a:lvl1pPr>
            <a:lvl2pPr lvl="1" algn="ctr" rtl="0">
              <a:lnSpc>
                <a:spcPct val="90000"/>
              </a:lnSpc>
              <a:spcBef>
                <a:spcPts val="400"/>
              </a:spcBef>
              <a:spcAft>
                <a:spcPts val="0"/>
              </a:spcAft>
              <a:buClr>
                <a:schemeClr val="dk1"/>
              </a:buClr>
              <a:buSzPts val="1500"/>
              <a:buNone/>
              <a:defRPr sz="1500"/>
            </a:lvl2pPr>
            <a:lvl3pPr lvl="2" algn="ctr" rtl="0">
              <a:lnSpc>
                <a:spcPct val="90000"/>
              </a:lnSpc>
              <a:spcBef>
                <a:spcPts val="400"/>
              </a:spcBef>
              <a:spcAft>
                <a:spcPts val="0"/>
              </a:spcAft>
              <a:buClr>
                <a:schemeClr val="dk1"/>
              </a:buClr>
              <a:buSzPts val="1400"/>
              <a:buNone/>
              <a:defRPr sz="1400"/>
            </a:lvl3pPr>
            <a:lvl4pPr lvl="3" algn="ctr" rtl="0">
              <a:lnSpc>
                <a:spcPct val="90000"/>
              </a:lnSpc>
              <a:spcBef>
                <a:spcPts val="400"/>
              </a:spcBef>
              <a:spcAft>
                <a:spcPts val="0"/>
              </a:spcAft>
              <a:buClr>
                <a:schemeClr val="dk1"/>
              </a:buClr>
              <a:buSzPts val="1200"/>
              <a:buNone/>
              <a:defRPr sz="1200"/>
            </a:lvl4pPr>
            <a:lvl5pPr lvl="4" algn="ctr" rtl="0">
              <a:lnSpc>
                <a:spcPct val="90000"/>
              </a:lnSpc>
              <a:spcBef>
                <a:spcPts val="400"/>
              </a:spcBef>
              <a:spcAft>
                <a:spcPts val="0"/>
              </a:spcAft>
              <a:buClr>
                <a:schemeClr val="dk1"/>
              </a:buClr>
              <a:buSzPts val="1200"/>
              <a:buNone/>
              <a:defRPr sz="1200"/>
            </a:lvl5pPr>
            <a:lvl6pPr lvl="5" algn="ctr" rtl="0">
              <a:lnSpc>
                <a:spcPct val="90000"/>
              </a:lnSpc>
              <a:spcBef>
                <a:spcPts val="400"/>
              </a:spcBef>
              <a:spcAft>
                <a:spcPts val="0"/>
              </a:spcAft>
              <a:buClr>
                <a:schemeClr val="dk1"/>
              </a:buClr>
              <a:buSzPts val="1200"/>
              <a:buNone/>
              <a:defRPr sz="1200"/>
            </a:lvl6pPr>
            <a:lvl7pPr lvl="6" algn="ctr" rtl="0">
              <a:lnSpc>
                <a:spcPct val="90000"/>
              </a:lnSpc>
              <a:spcBef>
                <a:spcPts val="400"/>
              </a:spcBef>
              <a:spcAft>
                <a:spcPts val="0"/>
              </a:spcAft>
              <a:buClr>
                <a:schemeClr val="dk1"/>
              </a:buClr>
              <a:buSzPts val="1200"/>
              <a:buNone/>
              <a:defRPr sz="1200"/>
            </a:lvl7pPr>
            <a:lvl8pPr lvl="7" algn="ctr" rtl="0">
              <a:lnSpc>
                <a:spcPct val="90000"/>
              </a:lnSpc>
              <a:spcBef>
                <a:spcPts val="400"/>
              </a:spcBef>
              <a:spcAft>
                <a:spcPts val="0"/>
              </a:spcAft>
              <a:buClr>
                <a:schemeClr val="dk1"/>
              </a:buClr>
              <a:buSzPts val="1200"/>
              <a:buNone/>
              <a:defRPr sz="1200"/>
            </a:lvl8pPr>
            <a:lvl9pPr lvl="8" algn="ctr" rtl="0">
              <a:lnSpc>
                <a:spcPct val="90000"/>
              </a:lnSpc>
              <a:spcBef>
                <a:spcPts val="400"/>
              </a:spcBef>
              <a:spcAft>
                <a:spcPts val="0"/>
              </a:spcAft>
              <a:buClr>
                <a:schemeClr val="dk1"/>
              </a:buClr>
              <a:buSzPts val="1200"/>
              <a:buNone/>
              <a:defRPr sz="1200"/>
            </a:lvl9pPr>
          </a:lstStyle>
          <a:p>
            <a:endParaRPr/>
          </a:p>
        </p:txBody>
      </p:sp>
      <p:sp>
        <p:nvSpPr>
          <p:cNvPr id="233" name="Google Shape;233;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34" name="Google Shape;234;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35" name="Google Shape;235;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6"/>
        <p:cNvGrpSpPr/>
        <p:nvPr/>
      </p:nvGrpSpPr>
      <p:grpSpPr>
        <a:xfrm>
          <a:off x="0" y="0"/>
          <a:ext cx="0" cy="0"/>
          <a:chOff x="0" y="0"/>
          <a:chExt cx="0" cy="0"/>
        </a:xfrm>
      </p:grpSpPr>
      <p:sp>
        <p:nvSpPr>
          <p:cNvPr id="237" name="Google Shape;237;p1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38" name="Google Shape;238;p1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39" name="Google Shape;239;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0" name="Google Shape;240;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1" name="Google Shape;241;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2"/>
        <p:cNvGrpSpPr/>
        <p:nvPr/>
      </p:nvGrpSpPr>
      <p:grpSpPr>
        <a:xfrm>
          <a:off x="0" y="0"/>
          <a:ext cx="0" cy="0"/>
          <a:chOff x="0" y="0"/>
          <a:chExt cx="0" cy="0"/>
        </a:xfrm>
      </p:grpSpPr>
      <p:sp>
        <p:nvSpPr>
          <p:cNvPr id="243" name="Google Shape;243;p20"/>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44" name="Google Shape;244;p20"/>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rgbClr val="888888"/>
              </a:buClr>
              <a:buSzPts val="1800"/>
              <a:buNone/>
              <a:defRPr sz="1800">
                <a:solidFill>
                  <a:srgbClr val="888888"/>
                </a:solidFill>
              </a:defRPr>
            </a:lvl1pPr>
            <a:lvl2pPr marL="914400" lvl="1" indent="-228600" algn="l" rtl="0">
              <a:lnSpc>
                <a:spcPct val="90000"/>
              </a:lnSpc>
              <a:spcBef>
                <a:spcPts val="400"/>
              </a:spcBef>
              <a:spcAft>
                <a:spcPts val="0"/>
              </a:spcAft>
              <a:buClr>
                <a:srgbClr val="888888"/>
              </a:buClr>
              <a:buSzPts val="1500"/>
              <a:buNone/>
              <a:defRPr sz="1500">
                <a:solidFill>
                  <a:srgbClr val="888888"/>
                </a:solidFill>
              </a:defRPr>
            </a:lvl2pPr>
            <a:lvl3pPr marL="1371600" lvl="2" indent="-228600" algn="l" rtl="0">
              <a:lnSpc>
                <a:spcPct val="90000"/>
              </a:lnSpc>
              <a:spcBef>
                <a:spcPts val="400"/>
              </a:spcBef>
              <a:spcAft>
                <a:spcPts val="0"/>
              </a:spcAft>
              <a:buClr>
                <a:srgbClr val="888888"/>
              </a:buClr>
              <a:buSzPts val="1400"/>
              <a:buNone/>
              <a:defRPr sz="1400">
                <a:solidFill>
                  <a:srgbClr val="888888"/>
                </a:solidFill>
              </a:defRPr>
            </a:lvl3pPr>
            <a:lvl4pPr marL="1828800" lvl="3" indent="-228600" algn="l" rtl="0">
              <a:lnSpc>
                <a:spcPct val="90000"/>
              </a:lnSpc>
              <a:spcBef>
                <a:spcPts val="400"/>
              </a:spcBef>
              <a:spcAft>
                <a:spcPts val="0"/>
              </a:spcAft>
              <a:buClr>
                <a:srgbClr val="888888"/>
              </a:buClr>
              <a:buSzPts val="1200"/>
              <a:buNone/>
              <a:defRPr sz="1200">
                <a:solidFill>
                  <a:srgbClr val="888888"/>
                </a:solidFill>
              </a:defRPr>
            </a:lvl4pPr>
            <a:lvl5pPr marL="2286000" lvl="4" indent="-228600" algn="l" rtl="0">
              <a:lnSpc>
                <a:spcPct val="90000"/>
              </a:lnSpc>
              <a:spcBef>
                <a:spcPts val="400"/>
              </a:spcBef>
              <a:spcAft>
                <a:spcPts val="0"/>
              </a:spcAft>
              <a:buClr>
                <a:srgbClr val="888888"/>
              </a:buClr>
              <a:buSzPts val="1200"/>
              <a:buNone/>
              <a:defRPr sz="1200">
                <a:solidFill>
                  <a:srgbClr val="888888"/>
                </a:solidFill>
              </a:defRPr>
            </a:lvl5pPr>
            <a:lvl6pPr marL="2743200" lvl="5" indent="-228600" algn="l" rtl="0">
              <a:lnSpc>
                <a:spcPct val="90000"/>
              </a:lnSpc>
              <a:spcBef>
                <a:spcPts val="400"/>
              </a:spcBef>
              <a:spcAft>
                <a:spcPts val="0"/>
              </a:spcAft>
              <a:buClr>
                <a:srgbClr val="888888"/>
              </a:buClr>
              <a:buSzPts val="1200"/>
              <a:buNone/>
              <a:defRPr sz="1200">
                <a:solidFill>
                  <a:srgbClr val="888888"/>
                </a:solidFill>
              </a:defRPr>
            </a:lvl6pPr>
            <a:lvl7pPr marL="3200400" lvl="6" indent="-228600" algn="l" rtl="0">
              <a:lnSpc>
                <a:spcPct val="90000"/>
              </a:lnSpc>
              <a:spcBef>
                <a:spcPts val="400"/>
              </a:spcBef>
              <a:spcAft>
                <a:spcPts val="0"/>
              </a:spcAft>
              <a:buClr>
                <a:srgbClr val="888888"/>
              </a:buClr>
              <a:buSzPts val="1200"/>
              <a:buNone/>
              <a:defRPr sz="1200">
                <a:solidFill>
                  <a:srgbClr val="888888"/>
                </a:solidFill>
              </a:defRPr>
            </a:lvl7pPr>
            <a:lvl8pPr marL="3657600" lvl="7" indent="-228600" algn="l" rtl="0">
              <a:lnSpc>
                <a:spcPct val="90000"/>
              </a:lnSpc>
              <a:spcBef>
                <a:spcPts val="400"/>
              </a:spcBef>
              <a:spcAft>
                <a:spcPts val="0"/>
              </a:spcAft>
              <a:buClr>
                <a:srgbClr val="888888"/>
              </a:buClr>
              <a:buSzPts val="1200"/>
              <a:buNone/>
              <a:defRPr sz="1200">
                <a:solidFill>
                  <a:srgbClr val="888888"/>
                </a:solidFill>
              </a:defRPr>
            </a:lvl8pPr>
            <a:lvl9pPr marL="4114800" lvl="8" indent="-228600" algn="l" rtl="0">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45" name="Google Shape;245;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6" name="Google Shape;246;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47" name="Google Shape;247;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8"/>
        <p:cNvGrpSpPr/>
        <p:nvPr/>
      </p:nvGrpSpPr>
      <p:grpSpPr>
        <a:xfrm>
          <a:off x="0" y="0"/>
          <a:ext cx="0" cy="0"/>
          <a:chOff x="0" y="0"/>
          <a:chExt cx="0" cy="0"/>
        </a:xfrm>
      </p:grpSpPr>
      <p:sp>
        <p:nvSpPr>
          <p:cNvPr id="249" name="Google Shape;249;p21"/>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50" name="Google Shape;250;p21"/>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1" name="Google Shape;251;p21"/>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2" name="Google Shape;252;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53" name="Google Shape;253;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54" name="Google Shape;254;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5"/>
        <p:cNvGrpSpPr/>
        <p:nvPr/>
      </p:nvGrpSpPr>
      <p:grpSpPr>
        <a:xfrm>
          <a:off x="0" y="0"/>
          <a:ext cx="0" cy="0"/>
          <a:chOff x="0" y="0"/>
          <a:chExt cx="0" cy="0"/>
        </a:xfrm>
      </p:grpSpPr>
      <p:sp>
        <p:nvSpPr>
          <p:cNvPr id="256" name="Google Shape;256;p22"/>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57" name="Google Shape;257;p22"/>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258" name="Google Shape;258;p22"/>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59" name="Google Shape;259;p22"/>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rtl="0">
              <a:lnSpc>
                <a:spcPct val="90000"/>
              </a:lnSpc>
              <a:spcBef>
                <a:spcPts val="800"/>
              </a:spcBef>
              <a:spcAft>
                <a:spcPts val="0"/>
              </a:spcAft>
              <a:buClr>
                <a:schemeClr val="dk1"/>
              </a:buClr>
              <a:buSzPts val="1800"/>
              <a:buNone/>
              <a:defRPr sz="1800" b="1"/>
            </a:lvl1pPr>
            <a:lvl2pPr marL="914400" lvl="1" indent="-228600" algn="l" rtl="0">
              <a:lnSpc>
                <a:spcPct val="90000"/>
              </a:lnSpc>
              <a:spcBef>
                <a:spcPts val="400"/>
              </a:spcBef>
              <a:spcAft>
                <a:spcPts val="0"/>
              </a:spcAft>
              <a:buClr>
                <a:schemeClr val="dk1"/>
              </a:buClr>
              <a:buSzPts val="1500"/>
              <a:buNone/>
              <a:defRPr sz="1500" b="1"/>
            </a:lvl2pPr>
            <a:lvl3pPr marL="1371600" lvl="2" indent="-228600" algn="l" rtl="0">
              <a:lnSpc>
                <a:spcPct val="90000"/>
              </a:lnSpc>
              <a:spcBef>
                <a:spcPts val="400"/>
              </a:spcBef>
              <a:spcAft>
                <a:spcPts val="0"/>
              </a:spcAft>
              <a:buClr>
                <a:schemeClr val="dk1"/>
              </a:buClr>
              <a:buSzPts val="1400"/>
              <a:buNone/>
              <a:defRPr sz="1400" b="1"/>
            </a:lvl3pPr>
            <a:lvl4pPr marL="1828800" lvl="3" indent="-228600" algn="l" rtl="0">
              <a:lnSpc>
                <a:spcPct val="90000"/>
              </a:lnSpc>
              <a:spcBef>
                <a:spcPts val="400"/>
              </a:spcBef>
              <a:spcAft>
                <a:spcPts val="0"/>
              </a:spcAft>
              <a:buClr>
                <a:schemeClr val="dk1"/>
              </a:buClr>
              <a:buSzPts val="1200"/>
              <a:buNone/>
              <a:defRPr sz="1200" b="1"/>
            </a:lvl4pPr>
            <a:lvl5pPr marL="2286000" lvl="4" indent="-228600" algn="l" rtl="0">
              <a:lnSpc>
                <a:spcPct val="90000"/>
              </a:lnSpc>
              <a:spcBef>
                <a:spcPts val="400"/>
              </a:spcBef>
              <a:spcAft>
                <a:spcPts val="0"/>
              </a:spcAft>
              <a:buClr>
                <a:schemeClr val="dk1"/>
              </a:buClr>
              <a:buSzPts val="1200"/>
              <a:buNone/>
              <a:defRPr sz="1200" b="1"/>
            </a:lvl5pPr>
            <a:lvl6pPr marL="2743200" lvl="5" indent="-228600" algn="l" rtl="0">
              <a:lnSpc>
                <a:spcPct val="90000"/>
              </a:lnSpc>
              <a:spcBef>
                <a:spcPts val="400"/>
              </a:spcBef>
              <a:spcAft>
                <a:spcPts val="0"/>
              </a:spcAft>
              <a:buClr>
                <a:schemeClr val="dk1"/>
              </a:buClr>
              <a:buSzPts val="1200"/>
              <a:buNone/>
              <a:defRPr sz="1200" b="1"/>
            </a:lvl6pPr>
            <a:lvl7pPr marL="3200400" lvl="6" indent="-228600" algn="l" rtl="0">
              <a:lnSpc>
                <a:spcPct val="90000"/>
              </a:lnSpc>
              <a:spcBef>
                <a:spcPts val="400"/>
              </a:spcBef>
              <a:spcAft>
                <a:spcPts val="0"/>
              </a:spcAft>
              <a:buClr>
                <a:schemeClr val="dk1"/>
              </a:buClr>
              <a:buSzPts val="1200"/>
              <a:buNone/>
              <a:defRPr sz="1200" b="1"/>
            </a:lvl7pPr>
            <a:lvl8pPr marL="3657600" lvl="7" indent="-228600" algn="l" rtl="0">
              <a:lnSpc>
                <a:spcPct val="90000"/>
              </a:lnSpc>
              <a:spcBef>
                <a:spcPts val="400"/>
              </a:spcBef>
              <a:spcAft>
                <a:spcPts val="0"/>
              </a:spcAft>
              <a:buClr>
                <a:schemeClr val="dk1"/>
              </a:buClr>
              <a:buSzPts val="1200"/>
              <a:buNone/>
              <a:defRPr sz="1200" b="1"/>
            </a:lvl8pPr>
            <a:lvl9pPr marL="4114800" lvl="8" indent="-228600" algn="l" rtl="0">
              <a:lnSpc>
                <a:spcPct val="90000"/>
              </a:lnSpc>
              <a:spcBef>
                <a:spcPts val="400"/>
              </a:spcBef>
              <a:spcAft>
                <a:spcPts val="0"/>
              </a:spcAft>
              <a:buClr>
                <a:schemeClr val="dk1"/>
              </a:buClr>
              <a:buSzPts val="1200"/>
              <a:buNone/>
              <a:defRPr sz="1200" b="1"/>
            </a:lvl9pPr>
          </a:lstStyle>
          <a:p>
            <a:endParaRPr/>
          </a:p>
        </p:txBody>
      </p:sp>
      <p:sp>
        <p:nvSpPr>
          <p:cNvPr id="260" name="Google Shape;260;p22"/>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61" name="Google Shape;261;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2" name="Google Shape;262;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3" name="Google Shape;263;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4"/>
        <p:cNvGrpSpPr/>
        <p:nvPr/>
      </p:nvGrpSpPr>
      <p:grpSpPr>
        <a:xfrm>
          <a:off x="0" y="0"/>
          <a:ext cx="0" cy="0"/>
          <a:chOff x="0" y="0"/>
          <a:chExt cx="0" cy="0"/>
        </a:xfrm>
      </p:grpSpPr>
      <p:sp>
        <p:nvSpPr>
          <p:cNvPr id="265" name="Google Shape;265;p2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66" name="Google Shape;266;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7" name="Google Shape;267;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8" name="Google Shape;268;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9"/>
        <p:cNvGrpSpPr/>
        <p:nvPr/>
      </p:nvGrpSpPr>
      <p:grpSpPr>
        <a:xfrm>
          <a:off x="0" y="0"/>
          <a:ext cx="0" cy="0"/>
          <a:chOff x="0" y="0"/>
          <a:chExt cx="0" cy="0"/>
        </a:xfrm>
      </p:grpSpPr>
      <p:sp>
        <p:nvSpPr>
          <p:cNvPr id="270" name="Google Shape;270;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1" name="Google Shape;271;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2" name="Google Shape;272;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3"/>
        <p:cNvGrpSpPr/>
        <p:nvPr/>
      </p:nvGrpSpPr>
      <p:grpSpPr>
        <a:xfrm>
          <a:off x="0" y="0"/>
          <a:ext cx="0" cy="0"/>
          <a:chOff x="0" y="0"/>
          <a:chExt cx="0" cy="0"/>
        </a:xfrm>
      </p:grpSpPr>
      <p:sp>
        <p:nvSpPr>
          <p:cNvPr id="274" name="Google Shape;274;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75" name="Google Shape;275;p25"/>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rtl="0">
              <a:lnSpc>
                <a:spcPct val="90000"/>
              </a:lnSpc>
              <a:spcBef>
                <a:spcPts val="800"/>
              </a:spcBef>
              <a:spcAft>
                <a:spcPts val="0"/>
              </a:spcAft>
              <a:buClr>
                <a:schemeClr val="dk1"/>
              </a:buClr>
              <a:buSzPts val="2400"/>
              <a:buChar char="•"/>
              <a:defRPr sz="2400"/>
            </a:lvl1pPr>
            <a:lvl2pPr marL="914400" lvl="1" indent="-361950" algn="l" rtl="0">
              <a:lnSpc>
                <a:spcPct val="90000"/>
              </a:lnSpc>
              <a:spcBef>
                <a:spcPts val="400"/>
              </a:spcBef>
              <a:spcAft>
                <a:spcPts val="0"/>
              </a:spcAft>
              <a:buClr>
                <a:schemeClr val="dk1"/>
              </a:buClr>
              <a:buSzPts val="2100"/>
              <a:buChar char="•"/>
              <a:defRPr sz="2100"/>
            </a:lvl2pPr>
            <a:lvl3pPr marL="1371600" lvl="2" indent="-342900" algn="l" rtl="0">
              <a:lnSpc>
                <a:spcPct val="90000"/>
              </a:lnSpc>
              <a:spcBef>
                <a:spcPts val="400"/>
              </a:spcBef>
              <a:spcAft>
                <a:spcPts val="0"/>
              </a:spcAft>
              <a:buClr>
                <a:schemeClr val="dk1"/>
              </a:buClr>
              <a:buSzPts val="1800"/>
              <a:buChar char="•"/>
              <a:defRPr sz="1800"/>
            </a:lvl3pPr>
            <a:lvl4pPr marL="1828800" lvl="3" indent="-323850" algn="l" rtl="0">
              <a:lnSpc>
                <a:spcPct val="90000"/>
              </a:lnSpc>
              <a:spcBef>
                <a:spcPts val="400"/>
              </a:spcBef>
              <a:spcAft>
                <a:spcPts val="0"/>
              </a:spcAft>
              <a:buClr>
                <a:schemeClr val="dk1"/>
              </a:buClr>
              <a:buSzPts val="1500"/>
              <a:buChar char="•"/>
              <a:defRPr sz="1500"/>
            </a:lvl4pPr>
            <a:lvl5pPr marL="2286000" lvl="4" indent="-323850" algn="l" rtl="0">
              <a:lnSpc>
                <a:spcPct val="90000"/>
              </a:lnSpc>
              <a:spcBef>
                <a:spcPts val="400"/>
              </a:spcBef>
              <a:spcAft>
                <a:spcPts val="0"/>
              </a:spcAft>
              <a:buClr>
                <a:schemeClr val="dk1"/>
              </a:buClr>
              <a:buSzPts val="1500"/>
              <a:buChar char="•"/>
              <a:defRPr sz="1500"/>
            </a:lvl5pPr>
            <a:lvl6pPr marL="2743200" lvl="5" indent="-323850" algn="l" rtl="0">
              <a:lnSpc>
                <a:spcPct val="90000"/>
              </a:lnSpc>
              <a:spcBef>
                <a:spcPts val="400"/>
              </a:spcBef>
              <a:spcAft>
                <a:spcPts val="0"/>
              </a:spcAft>
              <a:buClr>
                <a:schemeClr val="dk1"/>
              </a:buClr>
              <a:buSzPts val="1500"/>
              <a:buChar char="•"/>
              <a:defRPr sz="1500"/>
            </a:lvl6pPr>
            <a:lvl7pPr marL="3200400" lvl="6" indent="-323850" algn="l" rtl="0">
              <a:lnSpc>
                <a:spcPct val="90000"/>
              </a:lnSpc>
              <a:spcBef>
                <a:spcPts val="400"/>
              </a:spcBef>
              <a:spcAft>
                <a:spcPts val="0"/>
              </a:spcAft>
              <a:buClr>
                <a:schemeClr val="dk1"/>
              </a:buClr>
              <a:buSzPts val="1500"/>
              <a:buChar char="•"/>
              <a:defRPr sz="1500"/>
            </a:lvl7pPr>
            <a:lvl8pPr marL="3657600" lvl="7" indent="-323850" algn="l" rtl="0">
              <a:lnSpc>
                <a:spcPct val="90000"/>
              </a:lnSpc>
              <a:spcBef>
                <a:spcPts val="400"/>
              </a:spcBef>
              <a:spcAft>
                <a:spcPts val="0"/>
              </a:spcAft>
              <a:buClr>
                <a:schemeClr val="dk1"/>
              </a:buClr>
              <a:buSzPts val="1500"/>
              <a:buChar char="•"/>
              <a:defRPr sz="1500"/>
            </a:lvl8pPr>
            <a:lvl9pPr marL="4114800" lvl="8" indent="-323850" algn="l" rtl="0">
              <a:lnSpc>
                <a:spcPct val="90000"/>
              </a:lnSpc>
              <a:spcBef>
                <a:spcPts val="400"/>
              </a:spcBef>
              <a:spcAft>
                <a:spcPts val="0"/>
              </a:spcAft>
              <a:buClr>
                <a:schemeClr val="dk1"/>
              </a:buClr>
              <a:buSzPts val="1500"/>
              <a:buChar char="•"/>
              <a:defRPr sz="1500"/>
            </a:lvl9pPr>
          </a:lstStyle>
          <a:p>
            <a:endParaRPr/>
          </a:p>
        </p:txBody>
      </p:sp>
      <p:sp>
        <p:nvSpPr>
          <p:cNvPr id="276" name="Google Shape;276;p25"/>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277" name="Google Shape;277;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8" name="Google Shape;278;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9" name="Google Shape;279;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0"/>
        <p:cNvGrpSpPr/>
        <p:nvPr/>
      </p:nvGrpSpPr>
      <p:grpSpPr>
        <a:xfrm>
          <a:off x="0" y="0"/>
          <a:ext cx="0" cy="0"/>
          <a:chOff x="0" y="0"/>
          <a:chExt cx="0" cy="0"/>
        </a:xfrm>
      </p:grpSpPr>
      <p:sp>
        <p:nvSpPr>
          <p:cNvPr id="281" name="Google Shape;281;p26"/>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82" name="Google Shape;282;p26"/>
          <p:cNvSpPr>
            <a:spLocks noGrp="1"/>
          </p:cNvSpPr>
          <p:nvPr>
            <p:ph type="pic" idx="2"/>
          </p:nvPr>
        </p:nvSpPr>
        <p:spPr>
          <a:xfrm>
            <a:off x="3887391" y="740569"/>
            <a:ext cx="4629300" cy="3655200"/>
          </a:xfrm>
          <a:prstGeom prst="rect">
            <a:avLst/>
          </a:prstGeom>
          <a:noFill/>
          <a:ln>
            <a:noFill/>
          </a:ln>
        </p:spPr>
      </p:sp>
      <p:sp>
        <p:nvSpPr>
          <p:cNvPr id="283" name="Google Shape;283;p26"/>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rtl="0">
              <a:lnSpc>
                <a:spcPct val="90000"/>
              </a:lnSpc>
              <a:spcBef>
                <a:spcPts val="800"/>
              </a:spcBef>
              <a:spcAft>
                <a:spcPts val="0"/>
              </a:spcAft>
              <a:buClr>
                <a:schemeClr val="dk1"/>
              </a:buClr>
              <a:buSzPts val="1200"/>
              <a:buNone/>
              <a:defRPr sz="1200"/>
            </a:lvl1pPr>
            <a:lvl2pPr marL="914400" lvl="1" indent="-228600" algn="l" rtl="0">
              <a:lnSpc>
                <a:spcPct val="90000"/>
              </a:lnSpc>
              <a:spcBef>
                <a:spcPts val="400"/>
              </a:spcBef>
              <a:spcAft>
                <a:spcPts val="0"/>
              </a:spcAft>
              <a:buClr>
                <a:schemeClr val="dk1"/>
              </a:buClr>
              <a:buSzPts val="1100"/>
              <a:buNone/>
              <a:defRPr sz="1100"/>
            </a:lvl2pPr>
            <a:lvl3pPr marL="1371600" lvl="2" indent="-228600" algn="l" rtl="0">
              <a:lnSpc>
                <a:spcPct val="90000"/>
              </a:lnSpc>
              <a:spcBef>
                <a:spcPts val="400"/>
              </a:spcBef>
              <a:spcAft>
                <a:spcPts val="0"/>
              </a:spcAft>
              <a:buClr>
                <a:schemeClr val="dk1"/>
              </a:buClr>
              <a:buSzPts val="900"/>
              <a:buNone/>
              <a:defRPr sz="900"/>
            </a:lvl3pPr>
            <a:lvl4pPr marL="1828800" lvl="3" indent="-228600" algn="l" rtl="0">
              <a:lnSpc>
                <a:spcPct val="90000"/>
              </a:lnSpc>
              <a:spcBef>
                <a:spcPts val="400"/>
              </a:spcBef>
              <a:spcAft>
                <a:spcPts val="0"/>
              </a:spcAft>
              <a:buClr>
                <a:schemeClr val="dk1"/>
              </a:buClr>
              <a:buSzPts val="800"/>
              <a:buNone/>
              <a:defRPr sz="800"/>
            </a:lvl4pPr>
            <a:lvl5pPr marL="2286000" lvl="4" indent="-228600" algn="l" rtl="0">
              <a:lnSpc>
                <a:spcPct val="90000"/>
              </a:lnSpc>
              <a:spcBef>
                <a:spcPts val="400"/>
              </a:spcBef>
              <a:spcAft>
                <a:spcPts val="0"/>
              </a:spcAft>
              <a:buClr>
                <a:schemeClr val="dk1"/>
              </a:buClr>
              <a:buSzPts val="800"/>
              <a:buNone/>
              <a:defRPr sz="800"/>
            </a:lvl5pPr>
            <a:lvl6pPr marL="2743200" lvl="5" indent="-228600" algn="l" rtl="0">
              <a:lnSpc>
                <a:spcPct val="90000"/>
              </a:lnSpc>
              <a:spcBef>
                <a:spcPts val="400"/>
              </a:spcBef>
              <a:spcAft>
                <a:spcPts val="0"/>
              </a:spcAft>
              <a:buClr>
                <a:schemeClr val="dk1"/>
              </a:buClr>
              <a:buSzPts val="800"/>
              <a:buNone/>
              <a:defRPr sz="800"/>
            </a:lvl6pPr>
            <a:lvl7pPr marL="3200400" lvl="6" indent="-228600" algn="l" rtl="0">
              <a:lnSpc>
                <a:spcPct val="90000"/>
              </a:lnSpc>
              <a:spcBef>
                <a:spcPts val="400"/>
              </a:spcBef>
              <a:spcAft>
                <a:spcPts val="0"/>
              </a:spcAft>
              <a:buClr>
                <a:schemeClr val="dk1"/>
              </a:buClr>
              <a:buSzPts val="800"/>
              <a:buNone/>
              <a:defRPr sz="800"/>
            </a:lvl7pPr>
            <a:lvl8pPr marL="3657600" lvl="7" indent="-228600" algn="l" rtl="0">
              <a:lnSpc>
                <a:spcPct val="90000"/>
              </a:lnSpc>
              <a:spcBef>
                <a:spcPts val="400"/>
              </a:spcBef>
              <a:spcAft>
                <a:spcPts val="0"/>
              </a:spcAft>
              <a:buClr>
                <a:schemeClr val="dk1"/>
              </a:buClr>
              <a:buSzPts val="800"/>
              <a:buNone/>
              <a:defRPr sz="800"/>
            </a:lvl8pPr>
            <a:lvl9pPr marL="4114800" lvl="8" indent="-228600" algn="l" rtl="0">
              <a:lnSpc>
                <a:spcPct val="90000"/>
              </a:lnSpc>
              <a:spcBef>
                <a:spcPts val="400"/>
              </a:spcBef>
              <a:spcAft>
                <a:spcPts val="0"/>
              </a:spcAft>
              <a:buClr>
                <a:schemeClr val="dk1"/>
              </a:buClr>
              <a:buSzPts val="800"/>
              <a:buNone/>
              <a:defRPr sz="800"/>
            </a:lvl9pPr>
          </a:lstStyle>
          <a:p>
            <a:endParaRPr/>
          </a:p>
        </p:txBody>
      </p:sp>
      <p:sp>
        <p:nvSpPr>
          <p:cNvPr id="284" name="Google Shape;284;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85" name="Google Shape;285;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86" name="Google Shape;286;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7"/>
        <p:cNvGrpSpPr/>
        <p:nvPr/>
      </p:nvGrpSpPr>
      <p:grpSpPr>
        <a:xfrm>
          <a:off x="0" y="0"/>
          <a:ext cx="0" cy="0"/>
          <a:chOff x="0" y="0"/>
          <a:chExt cx="0" cy="0"/>
        </a:xfrm>
      </p:grpSpPr>
      <p:sp>
        <p:nvSpPr>
          <p:cNvPr id="288" name="Google Shape;288;p2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89" name="Google Shape;289;p27"/>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90" name="Google Shape;290;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91" name="Google Shape;291;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92" name="Google Shape;292;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3"/>
        <p:cNvGrpSpPr/>
        <p:nvPr/>
      </p:nvGrpSpPr>
      <p:grpSpPr>
        <a:xfrm>
          <a:off x="0" y="0"/>
          <a:ext cx="0" cy="0"/>
          <a:chOff x="0" y="0"/>
          <a:chExt cx="0" cy="0"/>
        </a:xfrm>
      </p:grpSpPr>
      <p:sp>
        <p:nvSpPr>
          <p:cNvPr id="294" name="Google Shape;294;p28"/>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100"/>
              <a:buNone/>
              <a:defRPr/>
            </a:lvl2pPr>
            <a:lvl3pPr lvl="2" rtl="0">
              <a:spcBef>
                <a:spcPts val="0"/>
              </a:spcBef>
              <a:spcAft>
                <a:spcPts val="0"/>
              </a:spcAft>
              <a:buSzPts val="1100"/>
              <a:buNone/>
              <a:defRPr/>
            </a:lvl3pPr>
            <a:lvl4pPr lvl="3" rtl="0">
              <a:spcBef>
                <a:spcPts val="0"/>
              </a:spcBef>
              <a:spcAft>
                <a:spcPts val="0"/>
              </a:spcAft>
              <a:buSzPts val="1100"/>
              <a:buNone/>
              <a:defRPr/>
            </a:lvl4pPr>
            <a:lvl5pPr lvl="4" rtl="0">
              <a:spcBef>
                <a:spcPts val="0"/>
              </a:spcBef>
              <a:spcAft>
                <a:spcPts val="0"/>
              </a:spcAft>
              <a:buSzPts val="1100"/>
              <a:buNone/>
              <a:defRPr/>
            </a:lvl5pPr>
            <a:lvl6pPr lvl="5" rtl="0">
              <a:spcBef>
                <a:spcPts val="0"/>
              </a:spcBef>
              <a:spcAft>
                <a:spcPts val="0"/>
              </a:spcAft>
              <a:buSzPts val="1100"/>
              <a:buNone/>
              <a:defRPr/>
            </a:lvl6pPr>
            <a:lvl7pPr lvl="6" rtl="0">
              <a:spcBef>
                <a:spcPts val="0"/>
              </a:spcBef>
              <a:spcAft>
                <a:spcPts val="0"/>
              </a:spcAft>
              <a:buSzPts val="1100"/>
              <a:buNone/>
              <a:defRPr/>
            </a:lvl7pPr>
            <a:lvl8pPr lvl="7" rtl="0">
              <a:spcBef>
                <a:spcPts val="0"/>
              </a:spcBef>
              <a:spcAft>
                <a:spcPts val="0"/>
              </a:spcAft>
              <a:buSzPts val="1100"/>
              <a:buNone/>
              <a:defRPr/>
            </a:lvl8pPr>
            <a:lvl9pPr lvl="8" rtl="0">
              <a:spcBef>
                <a:spcPts val="0"/>
              </a:spcBef>
              <a:spcAft>
                <a:spcPts val="0"/>
              </a:spcAft>
              <a:buSzPts val="1100"/>
              <a:buNone/>
              <a:defRPr/>
            </a:lvl9pPr>
          </a:lstStyle>
          <a:p>
            <a:endParaRPr/>
          </a:p>
        </p:txBody>
      </p:sp>
      <p:sp>
        <p:nvSpPr>
          <p:cNvPr id="295" name="Google Shape;295;p28"/>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400"/>
              </a:spcBef>
              <a:spcAft>
                <a:spcPts val="0"/>
              </a:spcAft>
              <a:buClr>
                <a:schemeClr val="dk1"/>
              </a:buClr>
              <a:buSzPts val="1400"/>
              <a:buChar char="•"/>
              <a:defRPr/>
            </a:lvl2pPr>
            <a:lvl3pPr marL="1371600" lvl="2" indent="-317500" algn="l" rtl="0">
              <a:lnSpc>
                <a:spcPct val="90000"/>
              </a:lnSpc>
              <a:spcBef>
                <a:spcPts val="400"/>
              </a:spcBef>
              <a:spcAft>
                <a:spcPts val="0"/>
              </a:spcAft>
              <a:buClr>
                <a:schemeClr val="dk1"/>
              </a:buClr>
              <a:buSzPts val="1400"/>
              <a:buChar char="•"/>
              <a:defRPr/>
            </a:lvl3pPr>
            <a:lvl4pPr marL="1828800" lvl="3" indent="-317500" algn="l" rtl="0">
              <a:lnSpc>
                <a:spcPct val="90000"/>
              </a:lnSpc>
              <a:spcBef>
                <a:spcPts val="400"/>
              </a:spcBef>
              <a:spcAft>
                <a:spcPts val="0"/>
              </a:spcAft>
              <a:buClr>
                <a:schemeClr val="dk1"/>
              </a:buClr>
              <a:buSzPts val="1400"/>
              <a:buChar char="•"/>
              <a:defRPr/>
            </a:lvl4pPr>
            <a:lvl5pPr marL="2286000" lvl="4" indent="-317500" algn="l" rtl="0">
              <a:lnSpc>
                <a:spcPct val="90000"/>
              </a:lnSpc>
              <a:spcBef>
                <a:spcPts val="400"/>
              </a:spcBef>
              <a:spcAft>
                <a:spcPts val="0"/>
              </a:spcAft>
              <a:buClr>
                <a:schemeClr val="dk1"/>
              </a:buClr>
              <a:buSzPts val="1400"/>
              <a:buChar char="•"/>
              <a:defRPr/>
            </a:lvl5pPr>
            <a:lvl6pPr marL="2743200" lvl="5" indent="-317500" algn="l" rtl="0">
              <a:lnSpc>
                <a:spcPct val="90000"/>
              </a:lnSpc>
              <a:spcBef>
                <a:spcPts val="400"/>
              </a:spcBef>
              <a:spcAft>
                <a:spcPts val="0"/>
              </a:spcAft>
              <a:buClr>
                <a:schemeClr val="dk1"/>
              </a:buClr>
              <a:buSzPts val="1400"/>
              <a:buChar char="•"/>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296" name="Google Shape;296;p2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97" name="Google Shape;297;p2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98" name="Google Shape;298;p2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4"/>
        <p:cNvGrpSpPr/>
        <p:nvPr/>
      </p:nvGrpSpPr>
      <p:grpSpPr>
        <a:xfrm>
          <a:off x="0" y="0"/>
          <a:ext cx="0" cy="0"/>
          <a:chOff x="0" y="0"/>
          <a:chExt cx="0" cy="0"/>
        </a:xfrm>
      </p:grpSpPr>
      <p:sp>
        <p:nvSpPr>
          <p:cNvPr id="225" name="Google Shape;225;p1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100"/>
              <a:buNone/>
              <a:defRPr sz="1400"/>
            </a:lvl2pPr>
            <a:lvl3pPr lvl="2" rtl="0">
              <a:spcBef>
                <a:spcPts val="0"/>
              </a:spcBef>
              <a:spcAft>
                <a:spcPts val="0"/>
              </a:spcAft>
              <a:buSzPts val="1100"/>
              <a:buNone/>
              <a:defRPr sz="1400"/>
            </a:lvl3pPr>
            <a:lvl4pPr lvl="3" rtl="0">
              <a:spcBef>
                <a:spcPts val="0"/>
              </a:spcBef>
              <a:spcAft>
                <a:spcPts val="0"/>
              </a:spcAft>
              <a:buSzPts val="1100"/>
              <a:buNone/>
              <a:defRPr sz="1400"/>
            </a:lvl4pPr>
            <a:lvl5pPr lvl="4" rtl="0">
              <a:spcBef>
                <a:spcPts val="0"/>
              </a:spcBef>
              <a:spcAft>
                <a:spcPts val="0"/>
              </a:spcAft>
              <a:buSzPts val="1100"/>
              <a:buNone/>
              <a:defRPr sz="1400"/>
            </a:lvl5pPr>
            <a:lvl6pPr lvl="5" rtl="0">
              <a:spcBef>
                <a:spcPts val="0"/>
              </a:spcBef>
              <a:spcAft>
                <a:spcPts val="0"/>
              </a:spcAft>
              <a:buSzPts val="1100"/>
              <a:buNone/>
              <a:defRPr sz="1400"/>
            </a:lvl6pPr>
            <a:lvl7pPr lvl="6" rtl="0">
              <a:spcBef>
                <a:spcPts val="0"/>
              </a:spcBef>
              <a:spcAft>
                <a:spcPts val="0"/>
              </a:spcAft>
              <a:buSzPts val="1100"/>
              <a:buNone/>
              <a:defRPr sz="1400"/>
            </a:lvl7pPr>
            <a:lvl8pPr lvl="7" rtl="0">
              <a:spcBef>
                <a:spcPts val="0"/>
              </a:spcBef>
              <a:spcAft>
                <a:spcPts val="0"/>
              </a:spcAft>
              <a:buSzPts val="1100"/>
              <a:buNone/>
              <a:defRPr sz="1400"/>
            </a:lvl8pPr>
            <a:lvl9pPr lvl="8" rtl="0">
              <a:spcBef>
                <a:spcPts val="0"/>
              </a:spcBef>
              <a:spcAft>
                <a:spcPts val="0"/>
              </a:spcAft>
              <a:buSzPts val="1100"/>
              <a:buNone/>
              <a:defRPr sz="1400"/>
            </a:lvl9pPr>
          </a:lstStyle>
          <a:p>
            <a:endParaRPr/>
          </a:p>
        </p:txBody>
      </p:sp>
      <p:sp>
        <p:nvSpPr>
          <p:cNvPr id="226" name="Google Shape;226;p17"/>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227" name="Google Shape;227;p1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228" name="Google Shape;228;p1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229" name="Google Shape;229;p1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29"/>
          <p:cNvSpPr txBox="1"/>
          <p:nvPr/>
        </p:nvSpPr>
        <p:spPr>
          <a:xfrm>
            <a:off x="6346" y="710407"/>
            <a:ext cx="9144000" cy="11004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400" b="1" i="0" u="none" strike="noStrike" cap="none" dirty="0">
                <a:solidFill>
                  <a:schemeClr val="dk1"/>
                </a:solidFill>
                <a:latin typeface="Times New Roman"/>
                <a:ea typeface="Times New Roman"/>
                <a:cs typeface="Times New Roman"/>
                <a:sym typeface="Times New Roman"/>
              </a:rPr>
              <a:t>B.M.S. COLLEGE OF ENGINEERING</a:t>
            </a:r>
            <a:endParaRPr sz="1100" dirty="0"/>
          </a:p>
          <a:p>
            <a:pPr marL="0" marR="0" lvl="0" indent="0" algn="ctr" rtl="0">
              <a:spcBef>
                <a:spcPts val="0"/>
              </a:spcBef>
              <a:spcAft>
                <a:spcPts val="0"/>
              </a:spcAft>
              <a:buNone/>
            </a:pPr>
            <a:r>
              <a:rPr lang="en-GB" sz="1100" b="0" i="0" u="none" strike="noStrike" cap="none" dirty="0">
                <a:solidFill>
                  <a:schemeClr val="dk1"/>
                </a:solidFill>
                <a:latin typeface="Corsiva"/>
                <a:ea typeface="Corsiva"/>
                <a:cs typeface="Corsiva"/>
                <a:sym typeface="Corsiva"/>
              </a:rPr>
              <a:t>(Autonomous Institute, Affiliated to VTU, Belagavi)</a:t>
            </a:r>
            <a:endParaRPr sz="1100" dirty="0"/>
          </a:p>
          <a:p>
            <a:pPr marL="0" marR="0" lvl="0" indent="0" algn="ctr" rtl="0">
              <a:spcBef>
                <a:spcPts val="0"/>
              </a:spcBef>
              <a:spcAft>
                <a:spcPts val="0"/>
              </a:spcAft>
              <a:buNone/>
            </a:pPr>
            <a:r>
              <a:rPr lang="en-GB" sz="2100" b="1" i="0" u="none" strike="noStrike" cap="none" dirty="0">
                <a:solidFill>
                  <a:srgbClr val="C00000"/>
                </a:solidFill>
                <a:latin typeface="Times New Roman"/>
                <a:ea typeface="Times New Roman"/>
                <a:cs typeface="Times New Roman"/>
                <a:sym typeface="Times New Roman"/>
              </a:rPr>
              <a:t>DEPARTMENT OF MACHINE LEARNING</a:t>
            </a:r>
            <a:endParaRPr sz="1100" dirty="0"/>
          </a:p>
          <a:p>
            <a:pPr marL="0" marR="0" lvl="0" indent="0" algn="ctr" rtl="0">
              <a:spcBef>
                <a:spcPts val="0"/>
              </a:spcBef>
              <a:spcAft>
                <a:spcPts val="0"/>
              </a:spcAft>
              <a:buNone/>
            </a:pPr>
            <a:r>
              <a:rPr lang="en-GB" sz="1100" b="0" i="0" u="none" strike="noStrike" cap="none" dirty="0">
                <a:solidFill>
                  <a:srgbClr val="C00000"/>
                </a:solidFill>
                <a:latin typeface="Times"/>
                <a:ea typeface="Times"/>
                <a:cs typeface="Times"/>
                <a:sym typeface="Times"/>
              </a:rPr>
              <a:t>(UG Program: B.E. in Artificial Intelligence and Machine Learning) </a:t>
            </a:r>
            <a:endParaRPr sz="1100" b="0" i="0" u="none" strike="noStrike" cap="none" dirty="0">
              <a:solidFill>
                <a:srgbClr val="C00000"/>
              </a:solidFill>
              <a:latin typeface="Times"/>
              <a:ea typeface="Times"/>
              <a:cs typeface="Times"/>
              <a:sym typeface="Times"/>
            </a:endParaRPr>
          </a:p>
        </p:txBody>
      </p:sp>
      <p:pic>
        <p:nvPicPr>
          <p:cNvPr id="304" name="Google Shape;304;p29" descr="E:\BMSCE\dept_name_print_for_files\college_logo.jpeg"/>
          <p:cNvPicPr preferRelativeResize="0"/>
          <p:nvPr/>
        </p:nvPicPr>
        <p:blipFill rotWithShape="1">
          <a:blip r:embed="rId3">
            <a:alphaModFix/>
          </a:blip>
          <a:srcRect/>
          <a:stretch/>
        </p:blipFill>
        <p:spPr>
          <a:xfrm>
            <a:off x="4321969" y="221456"/>
            <a:ext cx="503277" cy="494174"/>
          </a:xfrm>
          <a:prstGeom prst="rect">
            <a:avLst/>
          </a:prstGeom>
          <a:noFill/>
          <a:ln>
            <a:noFill/>
          </a:ln>
        </p:spPr>
      </p:pic>
      <p:sp>
        <p:nvSpPr>
          <p:cNvPr id="305" name="Google Shape;305;p29"/>
          <p:cNvSpPr txBox="1"/>
          <p:nvPr/>
        </p:nvSpPr>
        <p:spPr>
          <a:xfrm>
            <a:off x="12646" y="1999723"/>
            <a:ext cx="9137700" cy="7158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2100" b="1" i="0" u="none" strike="noStrike" cap="none" dirty="0">
                <a:solidFill>
                  <a:srgbClr val="00487E"/>
                </a:solidFill>
                <a:latin typeface="Times New Roman"/>
                <a:ea typeface="Times New Roman"/>
                <a:cs typeface="Times New Roman"/>
                <a:sym typeface="Times New Roman"/>
              </a:rPr>
              <a:t>Course : Natural Language Processing for LLM</a:t>
            </a:r>
            <a:endParaRPr sz="1100" dirty="0"/>
          </a:p>
          <a:p>
            <a:pPr marL="0" marR="0" lvl="0" indent="0" algn="ctr" rtl="0">
              <a:spcBef>
                <a:spcPts val="0"/>
              </a:spcBef>
              <a:spcAft>
                <a:spcPts val="0"/>
              </a:spcAft>
              <a:buNone/>
            </a:pPr>
            <a:r>
              <a:rPr lang="en-GB" sz="2100" b="1" i="0" u="none" strike="noStrike" cap="none" dirty="0">
                <a:solidFill>
                  <a:srgbClr val="00487E"/>
                </a:solidFill>
                <a:latin typeface="Times New Roman"/>
                <a:ea typeface="Times New Roman"/>
                <a:cs typeface="Times New Roman"/>
                <a:sym typeface="Times New Roman"/>
              </a:rPr>
              <a:t>Course Code: 24AM7PCLLM</a:t>
            </a:r>
            <a:endParaRPr sz="2100" b="1" i="0" u="none" strike="noStrike" cap="none" dirty="0">
              <a:solidFill>
                <a:srgbClr val="00487E"/>
              </a:solidFill>
              <a:latin typeface="Times New Roman"/>
              <a:ea typeface="Times New Roman"/>
              <a:cs typeface="Times New Roman"/>
              <a:sym typeface="Times New Roman"/>
            </a:endParaRPr>
          </a:p>
        </p:txBody>
      </p:sp>
      <p:sp>
        <p:nvSpPr>
          <p:cNvPr id="306" name="Google Shape;306;p29"/>
          <p:cNvSpPr txBox="1"/>
          <p:nvPr/>
        </p:nvSpPr>
        <p:spPr>
          <a:xfrm>
            <a:off x="6360646" y="3897415"/>
            <a:ext cx="2609700" cy="792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900" b="1" i="0" u="none" strike="noStrike" cap="none" dirty="0">
                <a:solidFill>
                  <a:schemeClr val="dk1"/>
                </a:solidFill>
                <a:latin typeface="Times New Roman"/>
                <a:ea typeface="Times New Roman"/>
                <a:cs typeface="Times New Roman"/>
                <a:sym typeface="Times New Roman"/>
              </a:rPr>
              <a:t>Faculty In-Charge:</a:t>
            </a:r>
            <a:endParaRPr sz="1100" dirty="0"/>
          </a:p>
          <a:p>
            <a:pPr marL="0" marR="0" lvl="0" indent="0" algn="l" rtl="0">
              <a:spcBef>
                <a:spcPts val="0"/>
              </a:spcBef>
              <a:spcAft>
                <a:spcPts val="0"/>
              </a:spcAft>
              <a:buNone/>
            </a:pPr>
            <a:r>
              <a:rPr lang="en-IN" sz="1100" b="1" dirty="0">
                <a:solidFill>
                  <a:schemeClr val="dk1"/>
                </a:solidFill>
                <a:latin typeface="Times New Roman"/>
                <a:ea typeface="Times New Roman"/>
                <a:cs typeface="Times New Roman"/>
                <a:sym typeface="Times New Roman"/>
              </a:rPr>
              <a:t>Upeksha Prasad G</a:t>
            </a:r>
            <a:endParaRPr sz="11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GB" sz="900" dirty="0">
                <a:solidFill>
                  <a:schemeClr val="dk1"/>
                </a:solidFill>
                <a:latin typeface="Times New Roman"/>
                <a:ea typeface="Times New Roman"/>
                <a:cs typeface="Times New Roman"/>
                <a:sym typeface="Times New Roman"/>
              </a:rPr>
              <a:t>Assistant Professor</a:t>
            </a:r>
            <a:endParaRPr sz="1100" dirty="0"/>
          </a:p>
          <a:p>
            <a:pPr marL="0" marR="0" lvl="0" indent="0" algn="l" rtl="0">
              <a:spcBef>
                <a:spcPts val="0"/>
              </a:spcBef>
              <a:spcAft>
                <a:spcPts val="0"/>
              </a:spcAft>
              <a:buNone/>
            </a:pPr>
            <a:r>
              <a:rPr lang="en-GB" sz="900" dirty="0">
                <a:solidFill>
                  <a:schemeClr val="dk1"/>
                </a:solidFill>
                <a:latin typeface="Times New Roman"/>
                <a:ea typeface="Times New Roman"/>
                <a:cs typeface="Times New Roman"/>
                <a:sym typeface="Times New Roman"/>
              </a:rPr>
              <a:t>Department of Machine Learning</a:t>
            </a:r>
            <a:endParaRPr sz="1100" dirty="0"/>
          </a:p>
          <a:p>
            <a:pPr marL="0" marR="0" lvl="0" indent="0" algn="l" rtl="0">
              <a:spcBef>
                <a:spcPts val="0"/>
              </a:spcBef>
              <a:spcAft>
                <a:spcPts val="0"/>
              </a:spcAft>
              <a:buNone/>
            </a:pPr>
            <a:r>
              <a:rPr lang="en-GB" sz="900" dirty="0">
                <a:solidFill>
                  <a:schemeClr val="dk1"/>
                </a:solidFill>
                <a:latin typeface="Times New Roman"/>
                <a:ea typeface="Times New Roman"/>
                <a:cs typeface="Times New Roman"/>
                <a:sym typeface="Times New Roman"/>
              </a:rPr>
              <a:t>BMS College of Engineering</a:t>
            </a:r>
            <a:endParaRPr sz="900" dirty="0">
              <a:solidFill>
                <a:schemeClr val="dk1"/>
              </a:solidFill>
              <a:latin typeface="Times New Roman"/>
              <a:ea typeface="Times New Roman"/>
              <a:cs typeface="Times New Roman"/>
              <a:sym typeface="Times New Roman"/>
            </a:endParaRPr>
          </a:p>
        </p:txBody>
      </p:sp>
      <p:sp>
        <p:nvSpPr>
          <p:cNvPr id="307" name="Google Shape;307;p29"/>
          <p:cNvSpPr txBox="1"/>
          <p:nvPr/>
        </p:nvSpPr>
        <p:spPr>
          <a:xfrm>
            <a:off x="254975" y="3939475"/>
            <a:ext cx="3873900" cy="91560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GB" sz="1100" b="1" dirty="0">
                <a:solidFill>
                  <a:schemeClr val="dk1"/>
                </a:solidFill>
                <a:highlight>
                  <a:schemeClr val="lt1"/>
                </a:highlight>
                <a:latin typeface="Times New Roman"/>
                <a:ea typeface="Times New Roman"/>
                <a:cs typeface="Times New Roman"/>
                <a:sym typeface="Times New Roman"/>
              </a:rPr>
              <a:t>Presented By,</a:t>
            </a:r>
            <a:endParaRPr sz="1100" dirty="0">
              <a:solidFill>
                <a:schemeClr val="dk1"/>
              </a:solidFill>
              <a:highlight>
                <a:schemeClr val="lt1"/>
              </a:highlight>
              <a:latin typeface="Times New Roman"/>
              <a:ea typeface="Times New Roman"/>
              <a:cs typeface="Times New Roman"/>
              <a:sym typeface="Times New Roman"/>
            </a:endParaRPr>
          </a:p>
          <a:p>
            <a:pPr marL="0" marR="0" lvl="0" indent="0" algn="l" rtl="0">
              <a:spcBef>
                <a:spcPts val="0"/>
              </a:spcBef>
              <a:spcAft>
                <a:spcPts val="0"/>
              </a:spcAft>
              <a:buNone/>
            </a:pPr>
            <a:r>
              <a:rPr lang="en-GB" sz="1100" dirty="0">
                <a:solidFill>
                  <a:schemeClr val="dk1"/>
                </a:solidFill>
                <a:highlight>
                  <a:schemeClr val="lt1"/>
                </a:highlight>
                <a:latin typeface="Times New Roman"/>
                <a:ea typeface="Times New Roman"/>
                <a:cs typeface="Times New Roman"/>
                <a:sym typeface="Times New Roman"/>
              </a:rPr>
              <a:t>Thijesh Praveen – 1BM23AI200</a:t>
            </a:r>
          </a:p>
          <a:p>
            <a:r>
              <a:rPr lang="en-GB" sz="1100" dirty="0">
                <a:solidFill>
                  <a:schemeClr val="dk1"/>
                </a:solidFill>
                <a:highlight>
                  <a:schemeClr val="lt1"/>
                </a:highlight>
                <a:latin typeface="Times New Roman"/>
                <a:ea typeface="Times New Roman"/>
                <a:cs typeface="Times New Roman"/>
                <a:sym typeface="Times New Roman"/>
              </a:rPr>
              <a:t>Uday Kumar M – 1BM23AI203</a:t>
            </a:r>
          </a:p>
          <a:p>
            <a:pPr marL="0" marR="0" lvl="0" indent="0" algn="l" rtl="0">
              <a:spcBef>
                <a:spcPts val="0"/>
              </a:spcBef>
              <a:spcAft>
                <a:spcPts val="0"/>
              </a:spcAft>
              <a:buNone/>
            </a:pPr>
            <a:r>
              <a:rPr lang="en-GB" sz="1100" dirty="0">
                <a:solidFill>
                  <a:schemeClr val="dk1"/>
                </a:solidFill>
                <a:highlight>
                  <a:schemeClr val="lt1"/>
                </a:highlight>
                <a:latin typeface="Times New Roman"/>
                <a:ea typeface="Times New Roman"/>
                <a:cs typeface="Times New Roman"/>
                <a:sym typeface="Times New Roman"/>
              </a:rPr>
              <a:t>Semester &amp; Section: </a:t>
            </a:r>
            <a:r>
              <a:rPr lang="en-GB" sz="1100" b="1" dirty="0">
                <a:solidFill>
                  <a:schemeClr val="dk1"/>
                </a:solidFill>
                <a:highlight>
                  <a:schemeClr val="lt1"/>
                </a:highlight>
                <a:latin typeface="Times New Roman"/>
                <a:ea typeface="Times New Roman"/>
                <a:cs typeface="Times New Roman"/>
                <a:sym typeface="Times New Roman"/>
              </a:rPr>
              <a:t>7C</a:t>
            </a:r>
            <a:endParaRPr sz="1100" dirty="0">
              <a:solidFill>
                <a:schemeClr val="dk1"/>
              </a:solidFill>
              <a:highlight>
                <a:schemeClr val="lt1"/>
              </a:highlight>
              <a:latin typeface="Times New Roman"/>
              <a:ea typeface="Times New Roman"/>
              <a:cs typeface="Times New Roman"/>
              <a:sym typeface="Times New Roman"/>
            </a:endParaRPr>
          </a:p>
          <a:p>
            <a:pPr marL="0" marR="0" lvl="0" indent="0" algn="l" rtl="0">
              <a:spcBef>
                <a:spcPts val="0"/>
              </a:spcBef>
              <a:spcAft>
                <a:spcPts val="0"/>
              </a:spcAft>
              <a:buNone/>
            </a:pPr>
            <a:r>
              <a:rPr lang="en-GB" sz="1100" dirty="0">
                <a:solidFill>
                  <a:schemeClr val="dk1"/>
                </a:solidFill>
                <a:highlight>
                  <a:schemeClr val="lt1"/>
                </a:highlight>
                <a:latin typeface="Times New Roman"/>
                <a:ea typeface="Times New Roman"/>
                <a:cs typeface="Times New Roman"/>
                <a:sym typeface="Times New Roman"/>
              </a:rPr>
              <a:t>Date:</a:t>
            </a:r>
            <a:endParaRPr sz="1100" dirty="0">
              <a:solidFill>
                <a:schemeClr val="dk1"/>
              </a:solidFill>
              <a:highlight>
                <a:schemeClr val="lt1"/>
              </a:highlight>
              <a:latin typeface="Times New Roman"/>
              <a:ea typeface="Times New Roman"/>
              <a:cs typeface="Times New Roman"/>
              <a:sym typeface="Times New Roman"/>
            </a:endParaRPr>
          </a:p>
        </p:txBody>
      </p:sp>
      <p:sp>
        <p:nvSpPr>
          <p:cNvPr id="308" name="Google Shape;308;p29"/>
          <p:cNvSpPr txBox="1"/>
          <p:nvPr/>
        </p:nvSpPr>
        <p:spPr>
          <a:xfrm>
            <a:off x="5549" y="2992699"/>
            <a:ext cx="9137700" cy="669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IN" sz="2600" b="1" dirty="0">
                <a:solidFill>
                  <a:srgbClr val="C00000"/>
                </a:solidFill>
                <a:latin typeface="Times New Roman"/>
                <a:ea typeface="Times New Roman"/>
                <a:cs typeface="Times New Roman"/>
                <a:sym typeface="Times New Roman"/>
              </a:rPr>
              <a:t>Resume NER: Pretrained vs Fine-Tuned BERT</a:t>
            </a:r>
            <a:endParaRPr sz="1100" dirty="0"/>
          </a:p>
          <a:p>
            <a:pPr marL="0" marR="0" lvl="0" indent="0" algn="ctr" rtl="0">
              <a:spcBef>
                <a:spcPts val="0"/>
              </a:spcBef>
              <a:spcAft>
                <a:spcPts val="0"/>
              </a:spcAft>
              <a:buNone/>
            </a:pPr>
            <a:r>
              <a:rPr lang="en-GB" sz="1500" b="1" dirty="0">
                <a:solidFill>
                  <a:srgbClr val="7030A0"/>
                </a:solidFill>
                <a:latin typeface="Times New Roman"/>
                <a:ea typeface="Times New Roman"/>
                <a:cs typeface="Times New Roman"/>
                <a:sym typeface="Times New Roman"/>
              </a:rPr>
              <a:t>Alternative Assessment Tool (AAT)</a:t>
            </a:r>
            <a:endParaRPr sz="1500" b="1" dirty="0">
              <a:solidFill>
                <a:srgbClr val="7030A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0"/>
          <p:cNvSpPr txBox="1">
            <a:spLocks noGrp="1"/>
          </p:cNvSpPr>
          <p:nvPr>
            <p:ph type="body" idx="1"/>
          </p:nvPr>
        </p:nvSpPr>
        <p:spPr>
          <a:xfrm>
            <a:off x="863600" y="44450"/>
            <a:ext cx="7118400" cy="1143000"/>
          </a:xfrm>
          <a:prstGeom prst="rect">
            <a:avLst/>
          </a:prstGeom>
          <a:noFill/>
          <a:ln>
            <a:noFill/>
          </a:ln>
        </p:spPr>
        <p:txBody>
          <a:bodyPr spcFirstLastPara="1" wrap="square" lIns="68575" tIns="34275" rIns="68575" bIns="34275" anchor="t" anchorCtr="0">
            <a:normAutofit/>
          </a:bodyPr>
          <a:lstStyle/>
          <a:p>
            <a:pPr marL="177800" lvl="0" indent="-38100" algn="l" rtl="0">
              <a:lnSpc>
                <a:spcPct val="90000"/>
              </a:lnSpc>
              <a:spcBef>
                <a:spcPts val="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p:txBody>
      </p:sp>
      <p:sp>
        <p:nvSpPr>
          <p:cNvPr id="314" name="Google Shape;314;p30"/>
          <p:cNvSpPr txBox="1"/>
          <p:nvPr/>
        </p:nvSpPr>
        <p:spPr>
          <a:xfrm>
            <a:off x="3149" y="0"/>
            <a:ext cx="9137700" cy="5772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3300">
                <a:solidFill>
                  <a:srgbClr val="C00000"/>
                </a:solidFill>
                <a:latin typeface="Times New Roman"/>
                <a:ea typeface="Times New Roman"/>
                <a:cs typeface="Times New Roman"/>
                <a:sym typeface="Times New Roman"/>
              </a:rPr>
              <a:t>Agenda</a:t>
            </a:r>
            <a:endParaRPr sz="3300">
              <a:solidFill>
                <a:srgbClr val="C00000"/>
              </a:solidFill>
              <a:latin typeface="Times New Roman"/>
              <a:ea typeface="Times New Roman"/>
              <a:cs typeface="Times New Roman"/>
              <a:sym typeface="Times New Roman"/>
            </a:endParaRPr>
          </a:p>
        </p:txBody>
      </p:sp>
      <p:sp>
        <p:nvSpPr>
          <p:cNvPr id="3" name="Rectangle 2">
            <a:extLst>
              <a:ext uri="{FF2B5EF4-FFF2-40B4-BE49-F238E27FC236}">
                <a16:creationId xmlns:a16="http://schemas.microsoft.com/office/drawing/2014/main" id="{A0879DDE-7264-45D2-B449-C0C3EC4DB758}"/>
              </a:ext>
            </a:extLst>
          </p:cNvPr>
          <p:cNvSpPr>
            <a:spLocks noChangeArrowheads="1"/>
          </p:cNvSpPr>
          <p:nvPr/>
        </p:nvSpPr>
        <p:spPr bwMode="auto">
          <a:xfrm>
            <a:off x="505691" y="615950"/>
            <a:ext cx="4320413"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Introduction</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Selected NLP Topic Overview</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Real-Time Application / API Identified</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NLP Model / Architecture Study</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Dataset and Preprocessing</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Implementation Methodology</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Results and Evaluation</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Discussion</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Conclusion</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panose="02020603050405020304" pitchFamily="18" charset="0"/>
                <a:cs typeface="Times" panose="02020603050405020304" pitchFamily="18" charset="0"/>
              </a:rPr>
              <a:t>References</a:t>
            </a:r>
            <a:endParaRPr kumimoji="0" lang="en-US" altLang="en-US" sz="1800" b="0" i="0" u="none" strike="noStrike" cap="none" normalizeH="0" baseline="0" dirty="0">
              <a:ln>
                <a:noFill/>
              </a:ln>
              <a:solidFill>
                <a:schemeClr val="tx1"/>
              </a:solidFill>
              <a:effectLst/>
              <a:latin typeface="Times" panose="02020603050405020304" pitchFamily="18" charset="0"/>
              <a:cs typeface="Times"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8"/>
          <p:cNvSpPr txBox="1">
            <a:spLocks noGrp="1"/>
          </p:cNvSpPr>
          <p:nvPr>
            <p:ph type="body" idx="1"/>
          </p:nvPr>
        </p:nvSpPr>
        <p:spPr>
          <a:xfrm>
            <a:off x="863600" y="44450"/>
            <a:ext cx="7118400" cy="1143000"/>
          </a:xfrm>
          <a:prstGeom prst="rect">
            <a:avLst/>
          </a:prstGeom>
          <a:noFill/>
          <a:ln>
            <a:noFill/>
          </a:ln>
        </p:spPr>
        <p:txBody>
          <a:bodyPr spcFirstLastPara="1" wrap="square" lIns="68575" tIns="34275" rIns="68575" bIns="34275" anchor="t" anchorCtr="0">
            <a:normAutofit/>
          </a:bodyPr>
          <a:lstStyle/>
          <a:p>
            <a:pPr marL="177800" lvl="0" indent="-38100" algn="l" rtl="0">
              <a:lnSpc>
                <a:spcPct val="90000"/>
              </a:lnSpc>
              <a:spcBef>
                <a:spcPts val="0"/>
              </a:spcBef>
              <a:spcAft>
                <a:spcPts val="0"/>
              </a:spcAft>
              <a:buClr>
                <a:schemeClr val="dk1"/>
              </a:buClr>
              <a:buSzPts val="2100"/>
              <a:buNone/>
            </a:pPr>
            <a:endParaRPr/>
          </a:p>
          <a:p>
            <a:pPr marL="177800" lvl="0" indent="-38100" algn="l" rtl="0">
              <a:lnSpc>
                <a:spcPct val="90000"/>
              </a:lnSpc>
              <a:spcBef>
                <a:spcPts val="800"/>
              </a:spcBef>
              <a:spcAft>
                <a:spcPts val="0"/>
              </a:spcAft>
              <a:buClr>
                <a:schemeClr val="dk1"/>
              </a:buClr>
              <a:buSzPts val="2100"/>
              <a:buNone/>
            </a:pPr>
            <a:endParaRPr/>
          </a:p>
        </p:txBody>
      </p:sp>
      <p:sp>
        <p:nvSpPr>
          <p:cNvPr id="441" name="Google Shape;441;p48"/>
          <p:cNvSpPr txBox="1"/>
          <p:nvPr/>
        </p:nvSpPr>
        <p:spPr>
          <a:xfrm>
            <a:off x="12692" y="1824521"/>
            <a:ext cx="9137700" cy="7620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GB" sz="4500">
                <a:solidFill>
                  <a:schemeClr val="dk1"/>
                </a:solidFill>
                <a:latin typeface="Times"/>
                <a:ea typeface="Times"/>
                <a:cs typeface="Times"/>
                <a:sym typeface="Times"/>
              </a:rPr>
              <a:t>Thank you ! </a:t>
            </a:r>
            <a:endParaRPr sz="4500">
              <a:solidFill>
                <a:schemeClr val="dk1"/>
              </a:solidFill>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Introduction: Why Resume Parsing Needs NER</a:t>
            </a:r>
          </a:p>
        </p:txBody>
      </p:sp>
      <p:sp>
        <p:nvSpPr>
          <p:cNvPr id="3" name="Body"/>
          <p:cNvSpPr txBox="1"/>
          <p:nvPr/>
        </p:nvSpPr>
        <p:spPr>
          <a:xfrm>
            <a:off x="457200" y="868680"/>
            <a:ext cx="4754880" cy="3566160"/>
          </a:xfrm>
          <a:prstGeom prst="rect">
            <a:avLst/>
          </a:prstGeom>
          <a:noFill/>
        </p:spPr>
        <p:txBody>
          <a:bodyPr wrap="square">
            <a:spAutoFit/>
          </a:bodyPr>
          <a:lstStyle/>
          <a:p>
            <a:pPr marL="228600" indent="-228600">
              <a:spcAft>
                <a:spcPts val="1000"/>
              </a:spcAft>
              <a:buFont typeface="Arial"/>
              <a:buChar char="•"/>
            </a:pPr>
            <a:r>
              <a:rPr sz="1600" b="1" i="0">
                <a:solidFill>
                  <a:srgbClr val="000000"/>
                </a:solidFill>
                <a:latin typeface="Times New Roman"/>
              </a:rPr>
              <a:t>Problem:</a:t>
            </a:r>
            <a:r>
              <a:rPr sz="1600" b="0" i="0">
                <a:solidFill>
                  <a:srgbClr val="000000"/>
                </a:solidFill>
                <a:latin typeface="Times New Roman"/>
              </a:rPr>
              <a:t> resumes arrive as unstructured PDF / DOCX text with no fixed layout</a:t>
            </a:r>
          </a:p>
          <a:p>
            <a:pPr marL="228600" indent="-228600">
              <a:spcAft>
                <a:spcPts val="1000"/>
              </a:spcAft>
              <a:buFont typeface="Arial"/>
              <a:buChar char="•"/>
            </a:pPr>
            <a:r>
              <a:rPr sz="1600" b="1" i="0">
                <a:solidFill>
                  <a:srgbClr val="000000"/>
                </a:solidFill>
                <a:latin typeface="Times New Roman"/>
              </a:rPr>
              <a:t>ATS need:</a:t>
            </a:r>
            <a:r>
              <a:rPr sz="1600" b="0" i="0">
                <a:solidFill>
                  <a:srgbClr val="000000"/>
                </a:solidFill>
                <a:latin typeface="Times New Roman"/>
              </a:rPr>
              <a:t> structured fields — name, contact, education, employers, titles, skills</a:t>
            </a:r>
          </a:p>
          <a:p>
            <a:pPr marL="228600" indent="-228600">
              <a:spcAft>
                <a:spcPts val="1000"/>
              </a:spcAft>
              <a:buFont typeface="Arial"/>
              <a:buChar char="•"/>
            </a:pPr>
            <a:r>
              <a:rPr sz="1600" b="1" i="0">
                <a:solidFill>
                  <a:srgbClr val="000000"/>
                </a:solidFill>
                <a:latin typeface="Times New Roman"/>
              </a:rPr>
              <a:t>NER</a:t>
            </a:r>
            <a:r>
              <a:rPr sz="1600" b="0" i="0">
                <a:solidFill>
                  <a:srgbClr val="000000"/>
                </a:solidFill>
                <a:latin typeface="Times New Roman"/>
              </a:rPr>
              <a:t> turns raw text into typed entities with character spans</a:t>
            </a:r>
          </a:p>
          <a:p>
            <a:pPr marL="228600" indent="-228600">
              <a:spcAft>
                <a:spcPts val="1000"/>
              </a:spcAft>
              <a:buFont typeface="Arial"/>
              <a:buChar char="•"/>
            </a:pPr>
            <a:r>
              <a:rPr sz="1600" b="1" i="0">
                <a:solidFill>
                  <a:srgbClr val="000000"/>
                </a:solidFill>
                <a:latin typeface="Times New Roman"/>
              </a:rPr>
              <a:t>Question:</a:t>
            </a:r>
            <a:r>
              <a:rPr sz="1600" b="0" i="0">
                <a:solidFill>
                  <a:srgbClr val="000000"/>
                </a:solidFill>
                <a:latin typeface="Times New Roman"/>
              </a:rPr>
              <a:t> how good is a pretrained NER model on resumes, and how much does fine-tuning add?</a:t>
            </a:r>
          </a:p>
          <a:p>
            <a:pPr marL="228600" indent="-228600">
              <a:spcAft>
                <a:spcPts val="1000"/>
              </a:spcAft>
              <a:buFont typeface="Arial"/>
              <a:buChar char="•"/>
            </a:pPr>
            <a:r>
              <a:rPr sz="1600" b="1" i="0">
                <a:solidFill>
                  <a:srgbClr val="000000"/>
                </a:solidFill>
                <a:latin typeface="Times New Roman"/>
              </a:rPr>
              <a:t>Deliverables:</a:t>
            </a:r>
            <a:r>
              <a:rPr sz="1600" b="0" i="0">
                <a:solidFill>
                  <a:srgbClr val="000000"/>
                </a:solidFill>
                <a:latin typeface="Times New Roman"/>
              </a:rPr>
              <a:t> measured before-vs-after comparison + REST API + live web demo</a:t>
            </a:r>
          </a:p>
        </p:txBody>
      </p:sp>
      <p:sp>
        <p:nvSpPr>
          <p:cNvPr id="4" name="Stat annotated resumes (D"/>
          <p:cNvSpPr/>
          <p:nvPr/>
        </p:nvSpPr>
        <p:spPr>
          <a:xfrm>
            <a:off x="5577840" y="914400"/>
            <a:ext cx="3108960" cy="105156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219</a:t>
            </a:r>
          </a:p>
          <a:p>
            <a:pPr algn="ctr"/>
            <a:r>
              <a:rPr sz="1200" b="0" i="0">
                <a:solidFill>
                  <a:srgbClr val="404040"/>
                </a:solidFill>
                <a:latin typeface="Times New Roman"/>
              </a:rPr>
              <a:t>annotated resumes (DataTurks, Kaggle)</a:t>
            </a:r>
          </a:p>
        </p:txBody>
      </p:sp>
      <p:sp>
        <p:nvSpPr>
          <p:cNvPr id="5" name="Stat resume entity types,"/>
          <p:cNvSpPr/>
          <p:nvPr/>
        </p:nvSpPr>
        <p:spPr>
          <a:xfrm>
            <a:off x="5577840" y="2148840"/>
            <a:ext cx="3108960" cy="105156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10</a:t>
            </a:r>
          </a:p>
          <a:p>
            <a:pPr algn="ctr"/>
            <a:r>
              <a:rPr sz="1200" b="0" i="0">
                <a:solidFill>
                  <a:srgbClr val="404040"/>
                </a:solidFill>
                <a:latin typeface="Times New Roman"/>
              </a:rPr>
              <a:t>resume entity types, BIO tagging</a:t>
            </a:r>
          </a:p>
        </p:txBody>
      </p:sp>
      <p:sp>
        <p:nvSpPr>
          <p:cNvPr id="6" name="Stat test micro-F1 (%), b"/>
          <p:cNvSpPr/>
          <p:nvPr/>
        </p:nvSpPr>
        <p:spPr>
          <a:xfrm>
            <a:off x="5577840" y="3383280"/>
            <a:ext cx="3108960" cy="105156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10.3 → 44.8</a:t>
            </a:r>
          </a:p>
          <a:p>
            <a:pPr algn="ctr"/>
            <a:r>
              <a:rPr sz="1200" b="0" i="0">
                <a:solidFill>
                  <a:srgbClr val="404040"/>
                </a:solidFill>
                <a:latin typeface="Times New Roman"/>
              </a:rPr>
              <a:t>test micro-F1 (%), before → after fine-tuning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Selected NLP Topic: Named Entity Recognition</a:t>
            </a:r>
          </a:p>
        </p:txBody>
      </p:sp>
      <p:sp>
        <p:nvSpPr>
          <p:cNvPr id="3" name="Word Ashok"/>
          <p:cNvSpPr/>
          <p:nvPr/>
        </p:nvSpPr>
        <p:spPr>
          <a:xfrm>
            <a:off x="457200" y="868680"/>
            <a:ext cx="914400" cy="384048"/>
          </a:xfrm>
          <a:prstGeom prst="roundRect">
            <a:avLst/>
          </a:prstGeom>
          <a:solidFill>
            <a:srgbClr val="FFD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Ashok</a:t>
            </a:r>
          </a:p>
        </p:txBody>
      </p:sp>
      <p:sp>
        <p:nvSpPr>
          <p:cNvPr id="4" name="TextBox 3"/>
          <p:cNvSpPr txBox="1"/>
          <p:nvPr/>
        </p:nvSpPr>
        <p:spPr>
          <a:xfrm>
            <a:off x="365760" y="1280160"/>
            <a:ext cx="1097280" cy="274320"/>
          </a:xfrm>
          <a:prstGeom prst="rect">
            <a:avLst/>
          </a:prstGeom>
          <a:noFill/>
        </p:spPr>
        <p:txBody>
          <a:bodyPr wrap="none">
            <a:spAutoFit/>
          </a:bodyPr>
          <a:lstStyle/>
          <a:p>
            <a:pPr algn="ctr"/>
            <a:r>
              <a:rPr sz="1000" b="0" i="0">
                <a:solidFill>
                  <a:srgbClr val="404040"/>
                </a:solidFill>
                <a:latin typeface="Times New Roman"/>
              </a:rPr>
              <a:t>B-NAME</a:t>
            </a:r>
          </a:p>
        </p:txBody>
      </p:sp>
      <p:sp>
        <p:nvSpPr>
          <p:cNvPr id="5" name="Word Kunam"/>
          <p:cNvSpPr/>
          <p:nvPr/>
        </p:nvSpPr>
        <p:spPr>
          <a:xfrm>
            <a:off x="1481328" y="868680"/>
            <a:ext cx="914400" cy="384048"/>
          </a:xfrm>
          <a:prstGeom prst="roundRect">
            <a:avLst/>
          </a:prstGeom>
          <a:solidFill>
            <a:srgbClr val="FFD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Kunam</a:t>
            </a:r>
          </a:p>
        </p:txBody>
      </p:sp>
      <p:sp>
        <p:nvSpPr>
          <p:cNvPr id="6" name="TextBox 5"/>
          <p:cNvSpPr txBox="1"/>
          <p:nvPr/>
        </p:nvSpPr>
        <p:spPr>
          <a:xfrm>
            <a:off x="1389888" y="1280160"/>
            <a:ext cx="1097280" cy="274320"/>
          </a:xfrm>
          <a:prstGeom prst="rect">
            <a:avLst/>
          </a:prstGeom>
          <a:noFill/>
        </p:spPr>
        <p:txBody>
          <a:bodyPr wrap="none">
            <a:spAutoFit/>
          </a:bodyPr>
          <a:lstStyle/>
          <a:p>
            <a:pPr algn="ctr"/>
            <a:r>
              <a:rPr sz="1000" b="0" i="0">
                <a:solidFill>
                  <a:srgbClr val="404040"/>
                </a:solidFill>
                <a:latin typeface="Times New Roman"/>
              </a:rPr>
              <a:t>I-NAME</a:t>
            </a:r>
          </a:p>
        </p:txBody>
      </p:sp>
      <p:sp>
        <p:nvSpPr>
          <p:cNvPr id="7" name="Word Team"/>
          <p:cNvSpPr/>
          <p:nvPr/>
        </p:nvSpPr>
        <p:spPr>
          <a:xfrm>
            <a:off x="2505456" y="868680"/>
            <a:ext cx="1300734" cy="384048"/>
          </a:xfrm>
          <a:prstGeom prst="roundRect">
            <a:avLst/>
          </a:prstGeom>
          <a:solidFill>
            <a:srgbClr val="C0E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Team</a:t>
            </a:r>
          </a:p>
        </p:txBody>
      </p:sp>
      <p:sp>
        <p:nvSpPr>
          <p:cNvPr id="8" name="TextBox 7"/>
          <p:cNvSpPr txBox="1"/>
          <p:nvPr/>
        </p:nvSpPr>
        <p:spPr>
          <a:xfrm>
            <a:off x="2414016" y="1280160"/>
            <a:ext cx="1483613" cy="274320"/>
          </a:xfrm>
          <a:prstGeom prst="rect">
            <a:avLst/>
          </a:prstGeom>
          <a:noFill/>
        </p:spPr>
        <p:txBody>
          <a:bodyPr wrap="none">
            <a:spAutoFit/>
          </a:bodyPr>
          <a:lstStyle/>
          <a:p>
            <a:pPr algn="ctr"/>
            <a:r>
              <a:rPr sz="1000" b="0" i="0">
                <a:solidFill>
                  <a:srgbClr val="404040"/>
                </a:solidFill>
                <a:latin typeface="Times New Roman"/>
              </a:rPr>
              <a:t>B-DESIGNATION</a:t>
            </a:r>
          </a:p>
        </p:txBody>
      </p:sp>
      <p:sp>
        <p:nvSpPr>
          <p:cNvPr id="9" name="Word Lead"/>
          <p:cNvSpPr/>
          <p:nvPr/>
        </p:nvSpPr>
        <p:spPr>
          <a:xfrm>
            <a:off x="3915918" y="868680"/>
            <a:ext cx="1300734" cy="384048"/>
          </a:xfrm>
          <a:prstGeom prst="roundRect">
            <a:avLst/>
          </a:prstGeom>
          <a:solidFill>
            <a:srgbClr val="C0E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Lead</a:t>
            </a:r>
          </a:p>
        </p:txBody>
      </p:sp>
      <p:sp>
        <p:nvSpPr>
          <p:cNvPr id="10" name="TextBox 9"/>
          <p:cNvSpPr txBox="1"/>
          <p:nvPr/>
        </p:nvSpPr>
        <p:spPr>
          <a:xfrm>
            <a:off x="3824478" y="1280160"/>
            <a:ext cx="1483613" cy="274320"/>
          </a:xfrm>
          <a:prstGeom prst="rect">
            <a:avLst/>
          </a:prstGeom>
          <a:noFill/>
        </p:spPr>
        <p:txBody>
          <a:bodyPr wrap="none">
            <a:spAutoFit/>
          </a:bodyPr>
          <a:lstStyle/>
          <a:p>
            <a:pPr algn="ctr"/>
            <a:r>
              <a:rPr sz="1000" b="0" i="0">
                <a:solidFill>
                  <a:srgbClr val="404040"/>
                </a:solidFill>
                <a:latin typeface="Times New Roman"/>
              </a:rPr>
              <a:t>I-DESIGNATION</a:t>
            </a:r>
          </a:p>
        </p:txBody>
      </p:sp>
      <p:sp>
        <p:nvSpPr>
          <p:cNvPr id="11" name="Word -"/>
          <p:cNvSpPr/>
          <p:nvPr/>
        </p:nvSpPr>
        <p:spPr>
          <a:xfrm>
            <a:off x="5326380" y="868680"/>
            <a:ext cx="438912" cy="38404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a:t>
            </a:r>
          </a:p>
        </p:txBody>
      </p:sp>
      <p:sp>
        <p:nvSpPr>
          <p:cNvPr id="12" name="TextBox 11"/>
          <p:cNvSpPr txBox="1"/>
          <p:nvPr/>
        </p:nvSpPr>
        <p:spPr>
          <a:xfrm>
            <a:off x="5234940" y="1280160"/>
            <a:ext cx="621792" cy="274320"/>
          </a:xfrm>
          <a:prstGeom prst="rect">
            <a:avLst/>
          </a:prstGeom>
          <a:noFill/>
        </p:spPr>
        <p:txBody>
          <a:bodyPr wrap="none">
            <a:spAutoFit/>
          </a:bodyPr>
          <a:lstStyle/>
          <a:p>
            <a:pPr algn="ctr"/>
            <a:r>
              <a:rPr sz="1000" b="0" i="0">
                <a:solidFill>
                  <a:srgbClr val="404040"/>
                </a:solidFill>
                <a:latin typeface="Times New Roman"/>
              </a:rPr>
              <a:t>O</a:t>
            </a:r>
          </a:p>
        </p:txBody>
      </p:sp>
      <p:sp>
        <p:nvSpPr>
          <p:cNvPr id="13" name="Word Microsoft"/>
          <p:cNvSpPr/>
          <p:nvPr/>
        </p:nvSpPr>
        <p:spPr>
          <a:xfrm>
            <a:off x="5875020" y="868680"/>
            <a:ext cx="1389888" cy="384048"/>
          </a:xfrm>
          <a:prstGeom prst="roundRect">
            <a:avLst/>
          </a:prstGeom>
          <a:solidFill>
            <a:srgbClr val="99E9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000000"/>
                </a:solidFill>
                <a:latin typeface="Times New Roman"/>
              </a:rPr>
              <a:t>Microsoft</a:t>
            </a:r>
          </a:p>
        </p:txBody>
      </p:sp>
      <p:sp>
        <p:nvSpPr>
          <p:cNvPr id="14" name="TextBox 13"/>
          <p:cNvSpPr txBox="1"/>
          <p:nvPr/>
        </p:nvSpPr>
        <p:spPr>
          <a:xfrm>
            <a:off x="5783580" y="1280160"/>
            <a:ext cx="1572768" cy="274320"/>
          </a:xfrm>
          <a:prstGeom prst="rect">
            <a:avLst/>
          </a:prstGeom>
          <a:noFill/>
        </p:spPr>
        <p:txBody>
          <a:bodyPr wrap="none">
            <a:spAutoFit/>
          </a:bodyPr>
          <a:lstStyle/>
          <a:p>
            <a:pPr algn="ctr"/>
            <a:r>
              <a:rPr sz="1000" b="0" i="0">
                <a:solidFill>
                  <a:srgbClr val="404040"/>
                </a:solidFill>
                <a:latin typeface="Times New Roman"/>
              </a:rPr>
              <a:t>B-COMPANY</a:t>
            </a:r>
          </a:p>
        </p:txBody>
      </p:sp>
      <p:sp>
        <p:nvSpPr>
          <p:cNvPr id="15" name="Body"/>
          <p:cNvSpPr txBox="1"/>
          <p:nvPr/>
        </p:nvSpPr>
        <p:spPr>
          <a:xfrm>
            <a:off x="7557516" y="868680"/>
            <a:ext cx="1403603" cy="731520"/>
          </a:xfrm>
          <a:prstGeom prst="rect">
            <a:avLst/>
          </a:prstGeom>
          <a:noFill/>
        </p:spPr>
        <p:txBody>
          <a:bodyPr wrap="square">
            <a:spAutoFit/>
          </a:bodyPr>
          <a:lstStyle/>
          <a:p>
            <a:pPr>
              <a:spcAft>
                <a:spcPts val="600"/>
              </a:spcAft>
            </a:pPr>
            <a:r>
              <a:rPr sz="1200" b="0" i="0">
                <a:solidFill>
                  <a:srgbClr val="404040"/>
                </a:solidFill>
                <a:latin typeface="Times New Roman"/>
              </a:rPr>
              <a:t>Real header line from a test resume, tagged by the fine-tuned model</a:t>
            </a:r>
          </a:p>
        </p:txBody>
      </p:sp>
      <p:graphicFrame>
        <p:nvGraphicFramePr>
          <p:cNvPr id="16" name="Table"/>
          <p:cNvGraphicFramePr>
            <a:graphicFrameLocks noGrp="1"/>
          </p:cNvGraphicFramePr>
          <p:nvPr/>
        </p:nvGraphicFramePr>
        <p:xfrm>
          <a:off x="457200" y="1737360"/>
          <a:ext cx="5486400" cy="2916936"/>
        </p:xfrm>
        <a:graphic>
          <a:graphicData uri="http://schemas.openxmlformats.org/drawingml/2006/table">
            <a:tbl>
              <a:tblPr firstRow="1" bandRow="1">
                <a:tableStyleId>{5C22544A-7EE6-4342-B048-85BDC9FD1C3A}</a:tableStyleId>
              </a:tblPr>
              <a:tblGrid>
                <a:gridCol w="2103120"/>
                <a:gridCol w="731520"/>
                <a:gridCol w="2651760"/>
              </a:tblGrid>
              <a:tr h="265176">
                <a:tc>
                  <a:txBody>
                    <a:bodyPr wrap="square"/>
                    <a:lstStyle/>
                    <a:p>
                      <a:pPr algn="l"/>
                      <a:r>
                        <a:rPr sz="1100" b="1" i="0">
                          <a:solidFill>
                            <a:srgbClr val="FFFFFF"/>
                          </a:solidFill>
                          <a:latin typeface="Times New Roman"/>
                        </a:rPr>
                        <a:t>Entity type</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Spans</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Example</a:t>
                      </a:r>
                    </a:p>
                  </a:txBody>
                  <a:tcPr marL="54864" marR="54864" marT="18288" marB="18288" anchor="ctr">
                    <a:solidFill>
                      <a:srgbClr val="C00000"/>
                    </a:solidFill>
                  </a:tcPr>
                </a:tc>
              </a:tr>
              <a:tr h="265176">
                <a:tc>
                  <a:txBody>
                    <a:bodyPr wrap="square"/>
                    <a:lstStyle/>
                    <a:p>
                      <a:pPr algn="l"/>
                      <a:r>
                        <a:rPr sz="1100" b="0" i="0">
                          <a:solidFill>
                            <a:srgbClr val="000000"/>
                          </a:solidFill>
                          <a:latin typeface="Times New Roman"/>
                        </a:rPr>
                        <a:t>NAME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223</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Ashok Kunam</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EMAIL</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250</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indeed.com/r/…</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LOCATION</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416</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Bengaluru</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COLLEGE_NAME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327</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Visvesvaraya Technological Univ.</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DEGREE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296</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Bachelor of Engineering</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GRADUATION_YEAR</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249</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2017</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COMPANIES_WORKED_AT</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668</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Microsoft</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DESIGNATION</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505</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Server Support Engineer</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YEARS_OF_EXPERIENCE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40</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2.5 years</a:t>
                      </a:r>
                    </a:p>
                  </a:txBody>
                  <a:tcPr marL="54864" marR="54864" marT="18288" marB="18288" anchor="ctr">
                    <a:solidFill>
                      <a:srgbClr val="FFFFFF"/>
                    </a:solidFill>
                  </a:tcPr>
                </a:tc>
              </a:tr>
              <a:tr h="265176">
                <a:tc>
                  <a:txBody>
                    <a:bodyPr wrap="square"/>
                    <a:lstStyle/>
                    <a:p>
                      <a:pPr algn="l"/>
                      <a:r>
                        <a:rPr sz="1100" b="0" i="0">
                          <a:solidFill>
                            <a:srgbClr val="000000"/>
                          </a:solidFill>
                          <a:latin typeface="Times New Roman"/>
                        </a:rPr>
                        <a:t>SKILLS</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455</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Python, SQL, …</a:t>
                      </a:r>
                    </a:p>
                  </a:txBody>
                  <a:tcPr marL="54864" marR="54864" marT="18288" marB="18288" anchor="ctr">
                    <a:solidFill>
                      <a:srgbClr val="FFFFFF"/>
                    </a:solidFill>
                  </a:tcPr>
                </a:tc>
              </a:tr>
            </a:tbl>
          </a:graphicData>
        </a:graphic>
      </p:graphicFrame>
      <p:sp>
        <p:nvSpPr>
          <p:cNvPr id="17" name="Body"/>
          <p:cNvSpPr txBox="1"/>
          <p:nvPr/>
        </p:nvSpPr>
        <p:spPr>
          <a:xfrm>
            <a:off x="6217920" y="1783080"/>
            <a:ext cx="2651760" cy="2926080"/>
          </a:xfrm>
          <a:prstGeom prst="rect">
            <a:avLst/>
          </a:prstGeom>
          <a:noFill/>
        </p:spPr>
        <p:txBody>
          <a:bodyPr wrap="square">
            <a:spAutoFit/>
          </a:bodyPr>
          <a:lstStyle/>
          <a:p>
            <a:pPr marL="228600" indent="-228600">
              <a:spcAft>
                <a:spcPts val="600"/>
              </a:spcAft>
              <a:buFont typeface="Arial"/>
              <a:buChar char="•"/>
            </a:pPr>
            <a:r>
              <a:rPr sz="1300" b="1" i="0">
                <a:solidFill>
                  <a:srgbClr val="000000"/>
                </a:solidFill>
                <a:latin typeface="Times New Roman"/>
              </a:rPr>
              <a:t>Domain shift:</a:t>
            </a:r>
            <a:r>
              <a:rPr sz="1300" b="0" i="0">
                <a:solidFill>
                  <a:srgbClr val="000000"/>
                </a:solidFill>
                <a:latin typeface="Times New Roman"/>
              </a:rPr>
              <a:t> news (CoNLL-2003) → resumes</a:t>
            </a:r>
          </a:p>
          <a:p>
            <a:pPr marL="228600" indent="-228600">
              <a:spcAft>
                <a:spcPts val="600"/>
              </a:spcAft>
              <a:buFont typeface="Arial"/>
              <a:buChar char="•"/>
            </a:pPr>
            <a:r>
              <a:rPr sz="1300" b="1" i="0">
                <a:solidFill>
                  <a:srgbClr val="000000"/>
                </a:solidFill>
                <a:latin typeface="Times New Roman"/>
              </a:rPr>
              <a:t>Label mismatch:</a:t>
            </a:r>
            <a:r>
              <a:rPr sz="1300" b="0" i="0">
                <a:solidFill>
                  <a:srgbClr val="000000"/>
                </a:solidFill>
                <a:latin typeface="Times New Roman"/>
              </a:rPr>
              <a:t> 7 of 10 types missing in CoNLL</a:t>
            </a:r>
          </a:p>
          <a:p>
            <a:pPr marL="228600" indent="-228600">
              <a:spcAft>
                <a:spcPts val="600"/>
              </a:spcAft>
              <a:buFont typeface="Arial"/>
              <a:buChar char="•"/>
            </a:pPr>
            <a:r>
              <a:rPr sz="1300" b="1" i="0">
                <a:solidFill>
                  <a:srgbClr val="000000"/>
                </a:solidFill>
                <a:latin typeface="Times New Roman"/>
              </a:rPr>
              <a:t>Ambiguity:</a:t>
            </a:r>
            <a:r>
              <a:rPr sz="1300" b="0" i="0">
                <a:solidFill>
                  <a:srgbClr val="000000"/>
                </a:solidFill>
                <a:latin typeface="Times New Roman"/>
              </a:rPr>
              <a:t> company vs college vs skill</a:t>
            </a:r>
          </a:p>
          <a:p>
            <a:pPr marL="228600" indent="-228600">
              <a:spcAft>
                <a:spcPts val="600"/>
              </a:spcAft>
              <a:buFont typeface="Arial"/>
              <a:buChar char="•"/>
            </a:pPr>
            <a:r>
              <a:rPr sz="1300" b="1" i="0">
                <a:solidFill>
                  <a:srgbClr val="000000"/>
                </a:solidFill>
                <a:latin typeface="Times New Roman"/>
              </a:rPr>
              <a:t>Layout noise</a:t>
            </a:r>
            <a:r>
              <a:rPr sz="1300" b="0" i="0">
                <a:solidFill>
                  <a:srgbClr val="000000"/>
                </a:solidFill>
                <a:latin typeface="Times New Roman"/>
              </a:rPr>
              <a:t> from PDF extraction</a:t>
            </a:r>
          </a:p>
          <a:p>
            <a:pPr marL="228600" indent="-228600">
              <a:spcAft>
                <a:spcPts val="600"/>
              </a:spcAft>
              <a:buFont typeface="Arial"/>
              <a:buChar char="•"/>
            </a:pPr>
            <a:r>
              <a:rPr sz="1300" b="1" i="0">
                <a:solidFill>
                  <a:srgbClr val="000000"/>
                </a:solidFill>
                <a:latin typeface="Times New Roman"/>
              </a:rPr>
              <a:t>Long inputs:</a:t>
            </a:r>
            <a:r>
              <a:rPr sz="1300" b="0" i="0">
                <a:solidFill>
                  <a:srgbClr val="000000"/>
                </a:solidFill>
                <a:latin typeface="Times New Roman"/>
              </a:rPr>
              <a:t> mean 688 words (BERT limit 512 sub-tokens)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Real-Time Application: Resume NER API and Demo</a:t>
            </a:r>
          </a:p>
        </p:txBody>
      </p:sp>
      <p:pic>
        <p:nvPicPr>
          <p:cNvPr id="3" name="system_architecture" descr="system_architecture.png"/>
          <p:cNvPicPr>
            <a:picLocks noChangeAspect="1"/>
          </p:cNvPicPr>
          <p:nvPr/>
        </p:nvPicPr>
        <p:blipFill>
          <a:blip r:embed="rId3"/>
          <a:stretch>
            <a:fillRect/>
          </a:stretch>
        </p:blipFill>
        <p:spPr>
          <a:xfrm>
            <a:off x="365760" y="731520"/>
            <a:ext cx="8412480" cy="3064339"/>
          </a:xfrm>
          <a:prstGeom prst="rect">
            <a:avLst/>
          </a:prstGeom>
        </p:spPr>
      </p:pic>
      <p:sp>
        <p:nvSpPr>
          <p:cNvPr id="4" name="Body"/>
          <p:cNvSpPr txBox="1"/>
          <p:nvPr/>
        </p:nvSpPr>
        <p:spPr>
          <a:xfrm>
            <a:off x="457200" y="3794760"/>
            <a:ext cx="4206240" cy="1188720"/>
          </a:xfrm>
          <a:prstGeom prst="rect">
            <a:avLst/>
          </a:prstGeom>
          <a:noFill/>
        </p:spPr>
        <p:txBody>
          <a:bodyPr wrap="square">
            <a:spAutoFit/>
          </a:bodyPr>
          <a:lstStyle/>
          <a:p>
            <a:pPr marL="228600" indent="-228600">
              <a:spcAft>
                <a:spcPts val="300"/>
              </a:spcAft>
              <a:buFont typeface="Arial"/>
              <a:buChar char="•"/>
            </a:pPr>
            <a:r>
              <a:rPr sz="1300" b="1" i="0">
                <a:solidFill>
                  <a:srgbClr val="000000"/>
                </a:solidFill>
                <a:latin typeface="Times New Roman"/>
              </a:rPr>
              <a:t>POST /parse</a:t>
            </a:r>
            <a:r>
              <a:rPr sz="1300" b="0" i="0">
                <a:solidFill>
                  <a:srgbClr val="000000"/>
                </a:solidFill>
                <a:latin typeface="Times New Roman"/>
              </a:rPr>
              <a:t> — PDF / DOCX / TXT upload → JSON</a:t>
            </a:r>
          </a:p>
          <a:p>
            <a:pPr marL="228600" indent="-228600">
              <a:spcAft>
                <a:spcPts val="300"/>
              </a:spcAft>
              <a:buFont typeface="Arial"/>
              <a:buChar char="•"/>
            </a:pPr>
            <a:r>
              <a:rPr sz="1300" b="1" i="0">
                <a:solidFill>
                  <a:srgbClr val="000000"/>
                </a:solidFill>
                <a:latin typeface="Times New Roman"/>
              </a:rPr>
              <a:t>model =</a:t>
            </a:r>
            <a:r>
              <a:rPr sz="1300" b="0" i="0">
                <a:solidFill>
                  <a:srgbClr val="000000"/>
                </a:solidFill>
                <a:latin typeface="Times New Roman"/>
              </a:rPr>
              <a:t> pretrained | finetuned | both</a:t>
            </a:r>
          </a:p>
          <a:p>
            <a:pPr marL="228600" indent="-228600">
              <a:spcAft>
                <a:spcPts val="300"/>
              </a:spcAft>
              <a:buFont typeface="Arial"/>
              <a:buChar char="•"/>
            </a:pPr>
            <a:r>
              <a:rPr sz="1300" b="1" i="0">
                <a:solidFill>
                  <a:srgbClr val="000000"/>
                </a:solidFill>
                <a:latin typeface="Times New Roman"/>
              </a:rPr>
              <a:t>CPU latency:</a:t>
            </a:r>
            <a:r>
              <a:rPr sz="1300" b="0" i="0">
                <a:solidFill>
                  <a:srgbClr val="000000"/>
                </a:solidFill>
                <a:latin typeface="Times New Roman"/>
              </a:rPr>
              <a:t> 1.19 s per resume (mean)</a:t>
            </a:r>
          </a:p>
        </p:txBody>
      </p:sp>
      <p:sp>
        <p:nvSpPr>
          <p:cNvPr id="5" name="Body"/>
          <p:cNvSpPr txBox="1"/>
          <p:nvPr/>
        </p:nvSpPr>
        <p:spPr>
          <a:xfrm>
            <a:off x="4754880" y="3794760"/>
            <a:ext cx="4023360" cy="1188720"/>
          </a:xfrm>
          <a:prstGeom prst="rect">
            <a:avLst/>
          </a:prstGeom>
          <a:noFill/>
        </p:spPr>
        <p:txBody>
          <a:bodyPr wrap="square">
            <a:spAutoFit/>
          </a:bodyPr>
          <a:lstStyle/>
          <a:p>
            <a:pPr marL="228600" indent="-228600">
              <a:spcAft>
                <a:spcPts val="300"/>
              </a:spcAft>
              <a:buFont typeface="Arial"/>
              <a:buChar char="•"/>
            </a:pPr>
            <a:r>
              <a:rPr sz="1300" b="0" i="0">
                <a:solidFill>
                  <a:srgbClr val="000000"/>
                </a:solidFill>
                <a:latin typeface="Times New Roman"/>
              </a:rPr>
              <a:t>Output: name, email, phone, skills, education, companies, designations + entity spans</a:t>
            </a:r>
          </a:p>
          <a:p>
            <a:pPr marL="228600" indent="-228600">
              <a:spcAft>
                <a:spcPts val="300"/>
              </a:spcAft>
              <a:buFont typeface="Arial"/>
              <a:buChar char="•"/>
            </a:pPr>
            <a:r>
              <a:rPr sz="1300" b="0" i="0">
                <a:solidFill>
                  <a:srgbClr val="000000"/>
                </a:solidFill>
                <a:latin typeface="Times New Roman"/>
              </a:rPr>
              <a:t>Context: commercial resume-parsing APIs (Affinda, Textkernel) return similar JSON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Dataset Overview and Label Distribution</a:t>
            </a:r>
          </a:p>
        </p:txBody>
      </p:sp>
      <p:pic>
        <p:nvPicPr>
          <p:cNvPr id="3" name="label_distribution" descr="label_distribution.png"/>
          <p:cNvPicPr>
            <a:picLocks noChangeAspect="1"/>
          </p:cNvPicPr>
          <p:nvPr/>
        </p:nvPicPr>
        <p:blipFill>
          <a:blip r:embed="rId3"/>
          <a:stretch>
            <a:fillRect/>
          </a:stretch>
        </p:blipFill>
        <p:spPr>
          <a:xfrm>
            <a:off x="274320" y="731520"/>
            <a:ext cx="5852160" cy="2025748"/>
          </a:xfrm>
          <a:prstGeom prst="rect">
            <a:avLst/>
          </a:prstGeom>
        </p:spPr>
      </p:pic>
      <p:sp>
        <p:nvSpPr>
          <p:cNvPr id="4" name="TextBox 3"/>
          <p:cNvSpPr txBox="1"/>
          <p:nvPr/>
        </p:nvSpPr>
        <p:spPr>
          <a:xfrm>
            <a:off x="274320" y="2880360"/>
            <a:ext cx="5852160" cy="274320"/>
          </a:xfrm>
          <a:prstGeom prst="rect">
            <a:avLst/>
          </a:prstGeom>
          <a:noFill/>
        </p:spPr>
        <p:txBody>
          <a:bodyPr wrap="square">
            <a:spAutoFit/>
          </a:bodyPr>
          <a:lstStyle/>
          <a:p>
            <a:pPr algn="ctr"/>
            <a:r>
              <a:rPr sz="1100" b="0" i="1">
                <a:solidFill>
                  <a:srgbClr val="404040"/>
                </a:solidFill>
                <a:latin typeface="Times New Roman"/>
              </a:rPr>
              <a:t>Entity spans per type (left) and word tokens per type, log scale (right)</a:t>
            </a:r>
          </a:p>
        </p:txBody>
      </p:sp>
      <p:sp>
        <p:nvSpPr>
          <p:cNvPr id="5" name="Stat resumes (220 raw, 1 "/>
          <p:cNvSpPr/>
          <p:nvPr/>
        </p:nvSpPr>
        <p:spPr>
          <a:xfrm>
            <a:off x="6400800" y="777240"/>
            <a:ext cx="2377440" cy="91440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219</a:t>
            </a:r>
          </a:p>
          <a:p>
            <a:pPr algn="ctr"/>
            <a:r>
              <a:rPr sz="1200" b="0" i="0">
                <a:solidFill>
                  <a:srgbClr val="404040"/>
                </a:solidFill>
                <a:latin typeface="Times New Roman"/>
              </a:rPr>
              <a:t>resumes (220 raw, 1 duplicate)</a:t>
            </a:r>
          </a:p>
        </p:txBody>
      </p:sp>
      <p:sp>
        <p:nvSpPr>
          <p:cNvPr id="6" name="Stat word tokens"/>
          <p:cNvSpPr/>
          <p:nvPr/>
        </p:nvSpPr>
        <p:spPr>
          <a:xfrm>
            <a:off x="6400800" y="1828800"/>
            <a:ext cx="2377440" cy="91440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150,753</a:t>
            </a:r>
          </a:p>
          <a:p>
            <a:pPr algn="ctr"/>
            <a:r>
              <a:rPr sz="1200" b="0" i="0">
                <a:solidFill>
                  <a:srgbClr val="404040"/>
                </a:solidFill>
                <a:latin typeface="Times New Roman"/>
              </a:rPr>
              <a:t>word tokens</a:t>
            </a:r>
          </a:p>
        </p:txBody>
      </p:sp>
      <p:sp>
        <p:nvSpPr>
          <p:cNvPr id="7" name="Stat entity spans"/>
          <p:cNvSpPr/>
          <p:nvPr/>
        </p:nvSpPr>
        <p:spPr>
          <a:xfrm>
            <a:off x="6400800" y="2880360"/>
            <a:ext cx="2377440" cy="91440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3,429</a:t>
            </a:r>
          </a:p>
          <a:p>
            <a:pPr algn="ctr"/>
            <a:r>
              <a:rPr sz="1200" b="0" i="0">
                <a:solidFill>
                  <a:srgbClr val="404040"/>
                </a:solidFill>
                <a:latin typeface="Times New Roman"/>
              </a:rPr>
              <a:t>entity spans</a:t>
            </a:r>
          </a:p>
        </p:txBody>
      </p:sp>
      <p:sp>
        <p:nvSpPr>
          <p:cNvPr id="8" name="Body"/>
          <p:cNvSpPr txBox="1"/>
          <p:nvPr/>
        </p:nvSpPr>
        <p:spPr>
          <a:xfrm>
            <a:off x="457200" y="3246120"/>
            <a:ext cx="5669280" cy="1645920"/>
          </a:xfrm>
          <a:prstGeom prst="rect">
            <a:avLst/>
          </a:prstGeom>
          <a:noFill/>
        </p:spPr>
        <p:txBody>
          <a:bodyPr wrap="square">
            <a:spAutoFit/>
          </a:bodyPr>
          <a:lstStyle/>
          <a:p>
            <a:pPr marL="228600" indent="-228600">
              <a:spcAft>
                <a:spcPts val="400"/>
              </a:spcAft>
              <a:buFont typeface="Arial"/>
              <a:buChar char="•"/>
            </a:pPr>
            <a:r>
              <a:rPr sz="1300" b="1" i="0">
                <a:solidFill>
                  <a:srgbClr val="000000"/>
                </a:solidFill>
                <a:latin typeface="Times New Roman"/>
              </a:rPr>
              <a:t>Split:</a:t>
            </a:r>
            <a:r>
              <a:rPr sz="1300" b="0" i="0">
                <a:solidFill>
                  <a:srgbClr val="000000"/>
                </a:solidFill>
                <a:latin typeface="Times New Roman"/>
              </a:rPr>
              <a:t> 153 / 33 / 33 resumes (70/15/15, seed 42) + 5-fold CV</a:t>
            </a:r>
          </a:p>
          <a:p>
            <a:pPr marL="228600" indent="-228600">
              <a:spcAft>
                <a:spcPts val="400"/>
              </a:spcAft>
              <a:buFont typeface="Arial"/>
              <a:buChar char="•"/>
            </a:pPr>
            <a:r>
              <a:rPr sz="1300" b="1" i="0">
                <a:solidFill>
                  <a:srgbClr val="000000"/>
                </a:solidFill>
                <a:latin typeface="Times New Roman"/>
              </a:rPr>
              <a:t>Imbalance:</a:t>
            </a:r>
            <a:r>
              <a:rPr sz="1300" b="0" i="0">
                <a:solidFill>
                  <a:srgbClr val="000000"/>
                </a:solidFill>
                <a:latin typeface="Times New Roman"/>
              </a:rPr>
              <a:t> 86.0 % of words are O; YEARS_OF_EXPERIENCE only 40 spans</a:t>
            </a:r>
          </a:p>
          <a:p>
            <a:pPr marL="228600" indent="-228600">
              <a:spcAft>
                <a:spcPts val="400"/>
              </a:spcAft>
              <a:buFont typeface="Arial"/>
              <a:buChar char="•"/>
            </a:pPr>
            <a:r>
              <a:rPr sz="1300" b="1" i="0">
                <a:solidFill>
                  <a:srgbClr val="000000"/>
                </a:solidFill>
                <a:latin typeface="Times New Roman"/>
              </a:rPr>
              <a:t>Noise:</a:t>
            </a:r>
            <a:r>
              <a:rPr sz="1300" b="0" i="0">
                <a:solidFill>
                  <a:srgbClr val="000000"/>
                </a:solidFill>
                <a:latin typeface="Times New Roman"/>
              </a:rPr>
              <a:t> all 250 EMAIL spans are Indeed URLs; 26 resumes leave the URL unannotated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Preprocessing Pipeline</a:t>
            </a:r>
          </a:p>
        </p:txBody>
      </p:sp>
      <p:sp>
        <p:nvSpPr>
          <p:cNvPr id="3" name="Step 1"/>
          <p:cNvSpPr/>
          <p:nvPr/>
        </p:nvSpPr>
        <p:spPr>
          <a:xfrm>
            <a:off x="777240"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1</a:t>
            </a:r>
          </a:p>
        </p:txBody>
      </p:sp>
      <p:sp>
        <p:nvSpPr>
          <p:cNvPr id="4" name="Body"/>
          <p:cNvSpPr txBox="1"/>
          <p:nvPr/>
        </p:nvSpPr>
        <p:spPr>
          <a:xfrm>
            <a:off x="320040"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De-duplicate</a:t>
            </a:r>
          </a:p>
        </p:txBody>
      </p:sp>
      <p:sp>
        <p:nvSpPr>
          <p:cNvPr id="5" name="Body"/>
          <p:cNvSpPr txBox="1"/>
          <p:nvPr/>
        </p:nvSpPr>
        <p:spPr>
          <a:xfrm>
            <a:off x="320040"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1 duplicate removed</a:t>
            </a:r>
          </a:p>
        </p:txBody>
      </p:sp>
      <p:sp>
        <p:nvSpPr>
          <p:cNvPr id="6" name="Right Arrow 5"/>
          <p:cNvSpPr/>
          <p:nvPr/>
        </p:nvSpPr>
        <p:spPr>
          <a:xfrm>
            <a:off x="1389888" y="1005840"/>
            <a:ext cx="274320" cy="182880"/>
          </a:xfrm>
          <a:prstGeom prst="rightArrow">
            <a:avLst/>
          </a:prstGeom>
          <a:solidFill>
            <a:srgbClr val="9AA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ep 2"/>
          <p:cNvSpPr/>
          <p:nvPr/>
        </p:nvSpPr>
        <p:spPr>
          <a:xfrm>
            <a:off x="2212848"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2</a:t>
            </a:r>
          </a:p>
        </p:txBody>
      </p:sp>
      <p:sp>
        <p:nvSpPr>
          <p:cNvPr id="8" name="Body"/>
          <p:cNvSpPr txBox="1"/>
          <p:nvPr/>
        </p:nvSpPr>
        <p:spPr>
          <a:xfrm>
            <a:off x="1755648"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Clean text</a:t>
            </a:r>
          </a:p>
        </p:txBody>
      </p:sp>
      <p:sp>
        <p:nvSpPr>
          <p:cNvPr id="9" name="Body"/>
          <p:cNvSpPr txBox="1"/>
          <p:nvPr/>
        </p:nvSpPr>
        <p:spPr>
          <a:xfrm>
            <a:off x="1755648"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noise chars → space, offsets kept</a:t>
            </a:r>
          </a:p>
        </p:txBody>
      </p:sp>
      <p:sp>
        <p:nvSpPr>
          <p:cNvPr id="10" name="Right Arrow 9"/>
          <p:cNvSpPr/>
          <p:nvPr/>
        </p:nvSpPr>
        <p:spPr>
          <a:xfrm>
            <a:off x="2825496" y="1005840"/>
            <a:ext cx="274320" cy="182880"/>
          </a:xfrm>
          <a:prstGeom prst="rightArrow">
            <a:avLst/>
          </a:prstGeom>
          <a:solidFill>
            <a:srgbClr val="9AA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ep 3"/>
          <p:cNvSpPr/>
          <p:nvPr/>
        </p:nvSpPr>
        <p:spPr>
          <a:xfrm>
            <a:off x="3648456"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3</a:t>
            </a:r>
          </a:p>
        </p:txBody>
      </p:sp>
      <p:sp>
        <p:nvSpPr>
          <p:cNvPr id="12" name="Body"/>
          <p:cNvSpPr txBox="1"/>
          <p:nvPr/>
        </p:nvSpPr>
        <p:spPr>
          <a:xfrm>
            <a:off x="3191256"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Fix spans</a:t>
            </a:r>
          </a:p>
        </p:txBody>
      </p:sp>
      <p:sp>
        <p:nvSpPr>
          <p:cNvPr id="13" name="Body"/>
          <p:cNvSpPr txBox="1"/>
          <p:nvPr/>
        </p:nvSpPr>
        <p:spPr>
          <a:xfrm>
            <a:off x="3191256"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inclusive end, trim, resolve overlaps</a:t>
            </a:r>
          </a:p>
        </p:txBody>
      </p:sp>
      <p:sp>
        <p:nvSpPr>
          <p:cNvPr id="14" name="Right Arrow 13"/>
          <p:cNvSpPr/>
          <p:nvPr/>
        </p:nvSpPr>
        <p:spPr>
          <a:xfrm>
            <a:off x="4261104" y="1005840"/>
            <a:ext cx="274320" cy="182880"/>
          </a:xfrm>
          <a:prstGeom prst="rightArrow">
            <a:avLst/>
          </a:prstGeom>
          <a:solidFill>
            <a:srgbClr val="9AA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ep 4"/>
          <p:cNvSpPr/>
          <p:nvPr/>
        </p:nvSpPr>
        <p:spPr>
          <a:xfrm>
            <a:off x="5084064"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4</a:t>
            </a:r>
          </a:p>
        </p:txBody>
      </p:sp>
      <p:sp>
        <p:nvSpPr>
          <p:cNvPr id="16" name="Body"/>
          <p:cNvSpPr txBox="1"/>
          <p:nvPr/>
        </p:nvSpPr>
        <p:spPr>
          <a:xfrm>
            <a:off x="4626864"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Tokenise</a:t>
            </a:r>
          </a:p>
        </p:txBody>
      </p:sp>
      <p:sp>
        <p:nvSpPr>
          <p:cNvPr id="17" name="Body"/>
          <p:cNvSpPr txBox="1"/>
          <p:nvPr/>
        </p:nvSpPr>
        <p:spPr>
          <a:xfrm>
            <a:off x="4626864"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regex words + char offsets</a:t>
            </a:r>
          </a:p>
        </p:txBody>
      </p:sp>
      <p:sp>
        <p:nvSpPr>
          <p:cNvPr id="18" name="Right Arrow 17"/>
          <p:cNvSpPr/>
          <p:nvPr/>
        </p:nvSpPr>
        <p:spPr>
          <a:xfrm>
            <a:off x="5696712" y="1005840"/>
            <a:ext cx="274320" cy="182880"/>
          </a:xfrm>
          <a:prstGeom prst="rightArrow">
            <a:avLst/>
          </a:prstGeom>
          <a:solidFill>
            <a:srgbClr val="9AA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ep 5"/>
          <p:cNvSpPr/>
          <p:nvPr/>
        </p:nvSpPr>
        <p:spPr>
          <a:xfrm>
            <a:off x="6519672"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5</a:t>
            </a:r>
          </a:p>
        </p:txBody>
      </p:sp>
      <p:sp>
        <p:nvSpPr>
          <p:cNvPr id="20" name="Body"/>
          <p:cNvSpPr txBox="1"/>
          <p:nvPr/>
        </p:nvSpPr>
        <p:spPr>
          <a:xfrm>
            <a:off x="6062472"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Span → BIO</a:t>
            </a:r>
          </a:p>
        </p:txBody>
      </p:sp>
      <p:sp>
        <p:nvSpPr>
          <p:cNvPr id="21" name="Body"/>
          <p:cNvSpPr txBox="1"/>
          <p:nvPr/>
        </p:nvSpPr>
        <p:spPr>
          <a:xfrm>
            <a:off x="6062472"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21 labels, word-aligned</a:t>
            </a:r>
          </a:p>
        </p:txBody>
      </p:sp>
      <p:sp>
        <p:nvSpPr>
          <p:cNvPr id="22" name="Right Arrow 21"/>
          <p:cNvSpPr/>
          <p:nvPr/>
        </p:nvSpPr>
        <p:spPr>
          <a:xfrm>
            <a:off x="7132320" y="1005840"/>
            <a:ext cx="274320" cy="182880"/>
          </a:xfrm>
          <a:prstGeom prst="rightArrow">
            <a:avLst/>
          </a:prstGeom>
          <a:solidFill>
            <a:srgbClr val="9AA5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ep 6"/>
          <p:cNvSpPr/>
          <p:nvPr/>
        </p:nvSpPr>
        <p:spPr>
          <a:xfrm>
            <a:off x="7955280" y="868680"/>
            <a:ext cx="457200" cy="457200"/>
          </a:xfrm>
          <a:prstGeom prst="ellipse">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i="0">
                <a:solidFill>
                  <a:srgbClr val="FFFFFF"/>
                </a:solidFill>
                <a:latin typeface="Times New Roman"/>
              </a:rPr>
              <a:t>6</a:t>
            </a:r>
          </a:p>
        </p:txBody>
      </p:sp>
      <p:sp>
        <p:nvSpPr>
          <p:cNvPr id="24" name="Body"/>
          <p:cNvSpPr txBox="1"/>
          <p:nvPr/>
        </p:nvSpPr>
        <p:spPr>
          <a:xfrm>
            <a:off x="7498080" y="1371600"/>
            <a:ext cx="1371600" cy="320040"/>
          </a:xfrm>
          <a:prstGeom prst="rect">
            <a:avLst/>
          </a:prstGeom>
          <a:noFill/>
        </p:spPr>
        <p:txBody>
          <a:bodyPr wrap="square">
            <a:spAutoFit/>
          </a:bodyPr>
          <a:lstStyle/>
          <a:p>
            <a:pPr algn="ctr">
              <a:spcAft>
                <a:spcPts val="600"/>
              </a:spcAft>
            </a:pPr>
            <a:r>
              <a:rPr sz="1400" b="0" i="0">
                <a:solidFill>
                  <a:srgbClr val="000000"/>
                </a:solidFill>
                <a:latin typeface="Times New Roman"/>
              </a:rPr>
              <a:t>WordPiece</a:t>
            </a:r>
          </a:p>
        </p:txBody>
      </p:sp>
      <p:sp>
        <p:nvSpPr>
          <p:cNvPr id="25" name="Body"/>
          <p:cNvSpPr txBox="1"/>
          <p:nvPr/>
        </p:nvSpPr>
        <p:spPr>
          <a:xfrm>
            <a:off x="7498080" y="1691640"/>
            <a:ext cx="1371600" cy="731520"/>
          </a:xfrm>
          <a:prstGeom prst="rect">
            <a:avLst/>
          </a:prstGeom>
          <a:noFill/>
        </p:spPr>
        <p:txBody>
          <a:bodyPr wrap="square">
            <a:spAutoFit/>
          </a:bodyPr>
          <a:lstStyle/>
          <a:p>
            <a:pPr algn="ctr">
              <a:spcAft>
                <a:spcPts val="600"/>
              </a:spcAft>
            </a:pPr>
            <a:r>
              <a:rPr sz="1100" b="0" i="0">
                <a:solidFill>
                  <a:srgbClr val="404040"/>
                </a:solidFill>
                <a:latin typeface="Times New Roman"/>
              </a:rPr>
              <a:t>first sub-token labelled, rest −100</a:t>
            </a:r>
          </a:p>
        </p:txBody>
      </p:sp>
      <p:graphicFrame>
        <p:nvGraphicFramePr>
          <p:cNvPr id="26" name="Table"/>
          <p:cNvGraphicFramePr>
            <a:graphicFrameLocks noGrp="1"/>
          </p:cNvGraphicFramePr>
          <p:nvPr/>
        </p:nvGraphicFramePr>
        <p:xfrm>
          <a:off x="457200" y="2606040"/>
          <a:ext cx="4572000" cy="1280160"/>
        </p:xfrm>
        <a:graphic>
          <a:graphicData uri="http://schemas.openxmlformats.org/drawingml/2006/table">
            <a:tbl>
              <a:tblPr firstRow="1" bandRow="1">
                <a:tableStyleId>{5C22544A-7EE6-4342-B048-85BDC9FD1C3A}</a:tableStyleId>
              </a:tblPr>
              <a:tblGrid>
                <a:gridCol w="3383280"/>
                <a:gridCol w="1188720"/>
              </a:tblGrid>
              <a:tr h="256032">
                <a:tc>
                  <a:txBody>
                    <a:bodyPr wrap="square"/>
                    <a:lstStyle/>
                    <a:p>
                      <a:pPr algn="l"/>
                      <a:r>
                        <a:rPr sz="1200" b="1" i="0">
                          <a:solidFill>
                            <a:srgbClr val="FFFFFF"/>
                          </a:solidFill>
                          <a:latin typeface="Times New Roman"/>
                        </a:rPr>
                        <a:t>Alignment check (data_prep.py log)</a:t>
                      </a:r>
                    </a:p>
                  </a:txBody>
                  <a:tcPr marL="54864" marR="54864" marT="18288" marB="18288" anchor="ctr">
                    <a:solidFill>
                      <a:srgbClr val="C00000"/>
                    </a:solidFill>
                  </a:tcPr>
                </a:tc>
                <a:tc>
                  <a:txBody>
                    <a:bodyPr wrap="square"/>
                    <a:lstStyle/>
                    <a:p>
                      <a:pPr algn="ctr"/>
                      <a:r>
                        <a:rPr sz="1200" b="1" i="0">
                          <a:solidFill>
                            <a:srgbClr val="FFFFFF"/>
                          </a:solidFill>
                          <a:latin typeface="Times New Roman"/>
                        </a:rPr>
                        <a:t>Count</a:t>
                      </a:r>
                    </a:p>
                  </a:txBody>
                  <a:tcPr marL="54864" marR="54864" marT="18288" marB="18288" anchor="ctr">
                    <a:solidFill>
                      <a:srgbClr val="C00000"/>
                    </a:solidFill>
                  </a:tcPr>
                </a:tc>
              </a:tr>
              <a:tr h="256032">
                <a:tc>
                  <a:txBody>
                    <a:bodyPr wrap="square"/>
                    <a:lstStyle/>
                    <a:p>
                      <a:pPr algn="l"/>
                      <a:r>
                        <a:rPr sz="1200" b="0" i="0">
                          <a:solidFill>
                            <a:srgbClr val="000000"/>
                          </a:solidFill>
                          <a:latin typeface="Times New Roman"/>
                        </a:rPr>
                        <a:t>Overlapping spans dropped</a:t>
                      </a:r>
                    </a:p>
                  </a:txBody>
                  <a:tcPr marL="54864" marR="54864" marT="18288" marB="18288" anchor="ctr">
                    <a:solidFill>
                      <a:srgbClr val="FFFFFF"/>
                    </a:solidFill>
                  </a:tcPr>
                </a:tc>
                <a:tc>
                  <a:txBody>
                    <a:bodyPr wrap="square"/>
                    <a:lstStyle/>
                    <a:p>
                      <a:pPr algn="ctr"/>
                      <a:r>
                        <a:rPr sz="1200" b="0" i="0">
                          <a:solidFill>
                            <a:srgbClr val="000000"/>
                          </a:solidFill>
                          <a:latin typeface="Times New Roman"/>
                        </a:rPr>
                        <a:t>103</a:t>
                      </a:r>
                    </a:p>
                  </a:txBody>
                  <a:tcPr marL="54864" marR="54864" marT="18288" marB="18288" anchor="ctr">
                    <a:solidFill>
                      <a:srgbClr val="FFFFFF"/>
                    </a:solidFill>
                  </a:tcPr>
                </a:tc>
              </a:tr>
              <a:tr h="256032">
                <a:tc>
                  <a:txBody>
                    <a:bodyPr wrap="square"/>
                    <a:lstStyle/>
                    <a:p>
                      <a:pPr algn="l"/>
                      <a:r>
                        <a:rPr sz="1200" b="0" i="0">
                          <a:solidFill>
                            <a:srgbClr val="000000"/>
                          </a:solidFill>
                          <a:latin typeface="Times New Roman"/>
                        </a:rPr>
                        <a:t>Spans expanded to word boundaries</a:t>
                      </a:r>
                    </a:p>
                  </a:txBody>
                  <a:tcPr marL="54864" marR="54864" marT="18288" marB="18288" anchor="ctr">
                    <a:solidFill>
                      <a:srgbClr val="FFFFFF"/>
                    </a:solidFill>
                  </a:tcPr>
                </a:tc>
                <a:tc>
                  <a:txBody>
                    <a:bodyPr wrap="square"/>
                    <a:lstStyle/>
                    <a:p>
                      <a:pPr algn="ctr"/>
                      <a:r>
                        <a:rPr sz="1200" b="0" i="0">
                          <a:solidFill>
                            <a:srgbClr val="000000"/>
                          </a:solidFill>
                          <a:latin typeface="Times New Roman"/>
                        </a:rPr>
                        <a:t>201</a:t>
                      </a:r>
                    </a:p>
                  </a:txBody>
                  <a:tcPr marL="54864" marR="54864" marT="18288" marB="18288" anchor="ctr">
                    <a:solidFill>
                      <a:srgbClr val="FFFFFF"/>
                    </a:solidFill>
                  </a:tcPr>
                </a:tc>
              </a:tr>
              <a:tr h="256032">
                <a:tc>
                  <a:txBody>
                    <a:bodyPr wrap="square"/>
                    <a:lstStyle/>
                    <a:p>
                      <a:pPr algn="l"/>
                      <a:r>
                        <a:rPr sz="1200" b="0" i="0">
                          <a:solidFill>
                            <a:srgbClr val="000000"/>
                          </a:solidFill>
                          <a:latin typeface="Times New Roman"/>
                        </a:rPr>
                        <a:t>BIO → span round trip recovered</a:t>
                      </a:r>
                    </a:p>
                  </a:txBody>
                  <a:tcPr marL="54864" marR="54864" marT="18288" marB="18288" anchor="ctr">
                    <a:solidFill>
                      <a:srgbClr val="FFFFFF"/>
                    </a:solidFill>
                  </a:tcPr>
                </a:tc>
                <a:tc>
                  <a:txBody>
                    <a:bodyPr wrap="square"/>
                    <a:lstStyle/>
                    <a:p>
                      <a:pPr algn="ctr"/>
                      <a:r>
                        <a:rPr sz="1200" b="0" i="0">
                          <a:solidFill>
                            <a:srgbClr val="000000"/>
                          </a:solidFill>
                          <a:latin typeface="Times New Roman"/>
                        </a:rPr>
                        <a:t>99.1 %</a:t>
                      </a:r>
                    </a:p>
                  </a:txBody>
                  <a:tcPr marL="54864" marR="54864" marT="18288" marB="18288" anchor="ctr">
                    <a:solidFill>
                      <a:srgbClr val="FFFFFF"/>
                    </a:solidFill>
                  </a:tcPr>
                </a:tc>
              </a:tr>
              <a:tr h="256032">
                <a:tc>
                  <a:txBody>
                    <a:bodyPr wrap="square"/>
                    <a:lstStyle/>
                    <a:p>
                      <a:pPr algn="l"/>
                      <a:r>
                        <a:rPr sz="1200" b="0" i="0">
                          <a:solidFill>
                            <a:srgbClr val="000000"/>
                          </a:solidFill>
                          <a:latin typeface="Times New Roman"/>
                        </a:rPr>
                        <a:t>Train/test identical texts (leakage)</a:t>
                      </a:r>
                    </a:p>
                  </a:txBody>
                  <a:tcPr marL="54864" marR="54864" marT="18288" marB="18288" anchor="ctr">
                    <a:solidFill>
                      <a:srgbClr val="FFFFFF"/>
                    </a:solidFill>
                  </a:tcPr>
                </a:tc>
                <a:tc>
                  <a:txBody>
                    <a:bodyPr wrap="square"/>
                    <a:lstStyle/>
                    <a:p>
                      <a:pPr algn="ctr"/>
                      <a:r>
                        <a:rPr sz="1200" b="0" i="0">
                          <a:solidFill>
                            <a:srgbClr val="000000"/>
                          </a:solidFill>
                          <a:latin typeface="Times New Roman"/>
                        </a:rPr>
                        <a:t>0</a:t>
                      </a:r>
                    </a:p>
                  </a:txBody>
                  <a:tcPr marL="54864" marR="54864" marT="18288" marB="18288" anchor="ctr">
                    <a:solidFill>
                      <a:srgbClr val="FFFFFF"/>
                    </a:solidFill>
                  </a:tcPr>
                </a:tc>
              </a:tr>
            </a:tbl>
          </a:graphicData>
        </a:graphic>
      </p:graphicFrame>
      <p:sp>
        <p:nvSpPr>
          <p:cNvPr id="27" name="Body"/>
          <p:cNvSpPr txBox="1"/>
          <p:nvPr/>
        </p:nvSpPr>
        <p:spPr>
          <a:xfrm>
            <a:off x="5303520" y="2606040"/>
            <a:ext cx="3566160" cy="2194560"/>
          </a:xfrm>
          <a:prstGeom prst="rect">
            <a:avLst/>
          </a:prstGeom>
          <a:noFill/>
        </p:spPr>
        <p:txBody>
          <a:bodyPr wrap="square">
            <a:spAutoFit/>
          </a:bodyPr>
          <a:lstStyle/>
          <a:p>
            <a:pPr marL="228600" indent="-228600">
              <a:spcAft>
                <a:spcPts val="600"/>
              </a:spcAft>
              <a:buFont typeface="Arial"/>
              <a:buChar char="•"/>
            </a:pPr>
            <a:r>
              <a:rPr sz="1300" b="1" i="0">
                <a:solidFill>
                  <a:srgbClr val="000000"/>
                </a:solidFill>
                <a:latin typeface="Times New Roman"/>
              </a:rPr>
              <a:t>No stopword removal / lemmatisation:</a:t>
            </a:r>
            <a:r>
              <a:rPr sz="1300" b="0" i="0">
                <a:solidFill>
                  <a:srgbClr val="000000"/>
                </a:solidFill>
                <a:latin typeface="Times New Roman"/>
              </a:rPr>
              <a:t> entities contain function words ("Bachelor *of* Engineering")</a:t>
            </a:r>
          </a:p>
          <a:p>
            <a:pPr marL="228600" indent="-228600">
              <a:spcAft>
                <a:spcPts val="600"/>
              </a:spcAft>
              <a:buFont typeface="Arial"/>
              <a:buChar char="•"/>
            </a:pPr>
            <a:r>
              <a:rPr sz="1300" b="1" i="0">
                <a:solidFill>
                  <a:srgbClr val="000000"/>
                </a:solidFill>
                <a:latin typeface="Times New Roman"/>
              </a:rPr>
              <a:t>No lower-casing:</a:t>
            </a:r>
            <a:r>
              <a:rPr sz="1300" b="0" i="0">
                <a:solidFill>
                  <a:srgbClr val="000000"/>
                </a:solidFill>
                <a:latin typeface="Times New Roman"/>
              </a:rPr>
              <a:t> capitalisation is a key cue; the model is cased</a:t>
            </a:r>
          </a:p>
          <a:p>
            <a:pPr marL="228600" indent="-228600">
              <a:spcAft>
                <a:spcPts val="600"/>
              </a:spcAft>
              <a:buFont typeface="Arial"/>
              <a:buChar char="•"/>
            </a:pPr>
            <a:r>
              <a:rPr sz="1300" b="1" i="0">
                <a:solidFill>
                  <a:srgbClr val="000000"/>
                </a:solidFill>
                <a:latin typeface="Times New Roman"/>
              </a:rPr>
              <a:t>Long resumes:</a:t>
            </a:r>
            <a:r>
              <a:rPr sz="1300" b="0" i="0">
                <a:solidFill>
                  <a:srgbClr val="000000"/>
                </a:solidFill>
                <a:latin typeface="Times New Roman"/>
              </a:rPr>
              <a:t> sliding windows of 512 sub-tokens, stride 128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Model: BERT and the Pretrained vs Fine-Tuned Idea</a:t>
            </a:r>
          </a:p>
        </p:txBody>
      </p:sp>
      <p:pic>
        <p:nvPicPr>
          <p:cNvPr id="3" name="bert_ner_architecture" descr="bert_ner_architecture.png"/>
          <p:cNvPicPr>
            <a:picLocks noChangeAspect="1"/>
          </p:cNvPicPr>
          <p:nvPr/>
        </p:nvPicPr>
        <p:blipFill>
          <a:blip r:embed="rId3"/>
          <a:stretch>
            <a:fillRect/>
          </a:stretch>
        </p:blipFill>
        <p:spPr>
          <a:xfrm>
            <a:off x="274320" y="777240"/>
            <a:ext cx="5943600" cy="3617683"/>
          </a:xfrm>
          <a:prstGeom prst="rect">
            <a:avLst/>
          </a:prstGeom>
        </p:spPr>
      </p:pic>
      <p:sp>
        <p:nvSpPr>
          <p:cNvPr id="4" name="Body"/>
          <p:cNvSpPr txBox="1"/>
          <p:nvPr/>
        </p:nvSpPr>
        <p:spPr>
          <a:xfrm>
            <a:off x="6400800" y="777240"/>
            <a:ext cx="2514600" cy="4206240"/>
          </a:xfrm>
          <a:prstGeom prst="rect">
            <a:avLst/>
          </a:prstGeom>
          <a:noFill/>
        </p:spPr>
        <p:txBody>
          <a:bodyPr wrap="square">
            <a:spAutoFit/>
          </a:bodyPr>
          <a:lstStyle/>
          <a:p>
            <a:pPr marL="228600" indent="-228600">
              <a:spcAft>
                <a:spcPts val="800"/>
              </a:spcAft>
              <a:buFont typeface="Arial"/>
              <a:buChar char="•"/>
            </a:pPr>
            <a:r>
              <a:rPr sz="1300" b="1" i="0">
                <a:solidFill>
                  <a:srgbClr val="000000"/>
                </a:solidFill>
                <a:latin typeface="Times New Roman"/>
              </a:rPr>
              <a:t>12 layers</a:t>
            </a:r>
            <a:r>
              <a:rPr sz="1300" b="0" i="0">
                <a:solidFill>
                  <a:srgbClr val="000000"/>
                </a:solidFill>
                <a:latin typeface="Times New Roman"/>
              </a:rPr>
              <a:t>, 768-d, 12 heads, 108 M params</a:t>
            </a:r>
          </a:p>
          <a:p>
            <a:pPr marL="228600" indent="-228600">
              <a:spcAft>
                <a:spcPts val="800"/>
              </a:spcAft>
              <a:buFont typeface="Arial"/>
              <a:buChar char="•"/>
            </a:pPr>
            <a:r>
              <a:rPr sz="1300" b="1" i="0">
                <a:solidFill>
                  <a:srgbClr val="000000"/>
                </a:solidFill>
                <a:latin typeface="Times New Roman"/>
              </a:rPr>
              <a:t>Before:</a:t>
            </a:r>
            <a:r>
              <a:rPr sz="1300" b="0" i="0">
                <a:solidFill>
                  <a:srgbClr val="000000"/>
                </a:solidFill>
                <a:latin typeface="Times New Roman"/>
              </a:rPr>
              <a:t> CoNLL head (9 labels), PER→NAME, ORG→COMPANY, LOC→LOCATION</a:t>
            </a:r>
          </a:p>
          <a:p>
            <a:pPr marL="228600" indent="-228600">
              <a:spcAft>
                <a:spcPts val="800"/>
              </a:spcAft>
              <a:buFont typeface="Arial"/>
              <a:buChar char="•"/>
            </a:pPr>
            <a:r>
              <a:rPr sz="1300" b="1" i="0">
                <a:solidFill>
                  <a:srgbClr val="000000"/>
                </a:solidFill>
                <a:latin typeface="Times New Roman"/>
              </a:rPr>
              <a:t>After:</a:t>
            </a:r>
            <a:r>
              <a:rPr sz="1300" b="0" i="0">
                <a:solidFill>
                  <a:srgbClr val="000000"/>
                </a:solidFill>
                <a:latin typeface="Times New Roman"/>
              </a:rPr>
              <a:t> new head (21 labels), whole model fine-tuned, cross-entropy + AdamW</a:t>
            </a:r>
          </a:p>
          <a:p>
            <a:pPr marL="228600" indent="-228600">
              <a:spcAft>
                <a:spcPts val="800"/>
              </a:spcAft>
              <a:buFont typeface="Arial"/>
              <a:buChar char="•"/>
            </a:pPr>
            <a:r>
              <a:rPr sz="1300" b="0" i="0">
                <a:solidFill>
                  <a:srgbClr val="000000"/>
                </a:solidFill>
                <a:latin typeface="Times New Roman"/>
              </a:rPr>
              <a:t>Attention = softmax(QKᵀ/√dₖ)V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Implementation: Training Setup and Hyperparameters</a:t>
            </a:r>
          </a:p>
        </p:txBody>
      </p:sp>
      <p:graphicFrame>
        <p:nvGraphicFramePr>
          <p:cNvPr id="3" name="Table"/>
          <p:cNvGraphicFramePr>
            <a:graphicFrameLocks noGrp="1"/>
          </p:cNvGraphicFramePr>
          <p:nvPr/>
        </p:nvGraphicFramePr>
        <p:xfrm>
          <a:off x="365760" y="777240"/>
          <a:ext cx="3200400" cy="2468880"/>
        </p:xfrm>
        <a:graphic>
          <a:graphicData uri="http://schemas.openxmlformats.org/drawingml/2006/table">
            <a:tbl>
              <a:tblPr firstRow="1" bandRow="1">
                <a:tableStyleId>{5C22544A-7EE6-4342-B048-85BDC9FD1C3A}</a:tableStyleId>
              </a:tblPr>
              <a:tblGrid>
                <a:gridCol w="1783080"/>
                <a:gridCol w="1417320"/>
              </a:tblGrid>
              <a:tr h="274320">
                <a:tc>
                  <a:txBody>
                    <a:bodyPr wrap="square"/>
                    <a:lstStyle/>
                    <a:p>
                      <a:pPr algn="l"/>
                      <a:r>
                        <a:rPr sz="1100" b="1" i="0">
                          <a:solidFill>
                            <a:srgbClr val="FFFFFF"/>
                          </a:solidFill>
                          <a:latin typeface="Times New Roman"/>
                        </a:rPr>
                        <a:t>Hyperparameter</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Value</a:t>
                      </a:r>
                    </a:p>
                  </a:txBody>
                  <a:tcPr marL="54864" marR="54864" marT="18288" marB="18288" anchor="ctr">
                    <a:solidFill>
                      <a:srgbClr val="C00000"/>
                    </a:solidFill>
                  </a:tcPr>
                </a:tc>
              </a:tr>
              <a:tr h="274320">
                <a:tc>
                  <a:txBody>
                    <a:bodyPr wrap="square"/>
                    <a:lstStyle/>
                    <a:p>
                      <a:pPr algn="l"/>
                      <a:r>
                        <a:rPr sz="1100" b="0" i="0">
                          <a:solidFill>
                            <a:srgbClr val="000000"/>
                          </a:solidFill>
                          <a:latin typeface="Times New Roman"/>
                        </a:rPr>
                        <a:t>Learning rate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3e-05</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Batch size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8</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Epochs (best kept)</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10 (best 10)</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Max length / stride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512 / 128</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Weight decay / warm-up</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0.01 / 10 %</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Optimiser</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AdamW, bf16</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Train time (RTX 4050)</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206 s</a:t>
                      </a:r>
                    </a:p>
                  </a:txBody>
                  <a:tcPr marL="54864" marR="54864" marT="18288" marB="18288" anchor="ctr">
                    <a:solidFill>
                      <a:srgbClr val="FFFFFF"/>
                    </a:solidFill>
                  </a:tcPr>
                </a:tc>
              </a:tr>
              <a:tr h="274320">
                <a:tc>
                  <a:txBody>
                    <a:bodyPr wrap="square"/>
                    <a:lstStyle/>
                    <a:p>
                      <a:pPr algn="l"/>
                      <a:r>
                        <a:rPr sz="1100" b="0" i="0">
                          <a:solidFill>
                            <a:srgbClr val="000000"/>
                          </a:solidFill>
                          <a:latin typeface="Times New Roman"/>
                        </a:rPr>
                        <a:t>Selection</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best validation F1</a:t>
                      </a:r>
                    </a:p>
                  </a:txBody>
                  <a:tcPr marL="54864" marR="54864" marT="18288" marB="18288" anchor="ctr">
                    <a:solidFill>
                      <a:srgbClr val="FFFFFF"/>
                    </a:solidFill>
                  </a:tcPr>
                </a:tc>
              </a:tr>
            </a:tbl>
          </a:graphicData>
        </a:graphic>
      </p:graphicFrame>
      <p:pic>
        <p:nvPicPr>
          <p:cNvPr id="4" name="training_curves" descr="training_curves.png"/>
          <p:cNvPicPr>
            <a:picLocks noChangeAspect="1"/>
          </p:cNvPicPr>
          <p:nvPr/>
        </p:nvPicPr>
        <p:blipFill>
          <a:blip r:embed="rId3"/>
          <a:stretch>
            <a:fillRect/>
          </a:stretch>
        </p:blipFill>
        <p:spPr>
          <a:xfrm>
            <a:off x="3749039" y="777240"/>
            <a:ext cx="5120640" cy="1862051"/>
          </a:xfrm>
          <a:prstGeom prst="rect">
            <a:avLst/>
          </a:prstGeom>
        </p:spPr>
      </p:pic>
      <p:graphicFrame>
        <p:nvGraphicFramePr>
          <p:cNvPr id="5" name="Table"/>
          <p:cNvGraphicFramePr>
            <a:graphicFrameLocks noGrp="1"/>
          </p:cNvGraphicFramePr>
          <p:nvPr/>
        </p:nvGraphicFramePr>
        <p:xfrm>
          <a:off x="4206240" y="2788920"/>
          <a:ext cx="4206240" cy="1984248"/>
        </p:xfrm>
        <a:graphic>
          <a:graphicData uri="http://schemas.openxmlformats.org/drawingml/2006/table">
            <a:tbl>
              <a:tblPr firstRow="1" bandRow="1">
                <a:tableStyleId>{5C22544A-7EE6-4342-B048-85BDC9FD1C3A}</a:tableStyleId>
              </a:tblPr>
              <a:tblGrid>
                <a:gridCol w="1005840"/>
                <a:gridCol w="731520"/>
                <a:gridCol w="1234440"/>
                <a:gridCol w="1234440"/>
              </a:tblGrid>
              <a:tr h="283464">
                <a:tc>
                  <a:txBody>
                    <a:bodyPr wrap="square"/>
                    <a:lstStyle/>
                    <a:p>
                      <a:pPr algn="l"/>
                      <a:r>
                        <a:rPr sz="1000" b="1" i="0">
                          <a:solidFill>
                            <a:srgbClr val="FFFFFF"/>
                          </a:solidFill>
                          <a:latin typeface="Times New Roman"/>
                        </a:rPr>
                        <a:t>lr</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bs</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Val F1</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Test F1</a:t>
                      </a:r>
                    </a:p>
                  </a:txBody>
                  <a:tcPr marL="54864" marR="54864" marT="18288" marB="18288" anchor="ctr">
                    <a:solidFill>
                      <a:srgbClr val="C00000"/>
                    </a:solidFill>
                  </a:tcPr>
                </a:tc>
              </a:tr>
              <a:tr h="283464">
                <a:tc>
                  <a:txBody>
                    <a:bodyPr wrap="square"/>
                    <a:lstStyle/>
                    <a:p>
                      <a:pPr algn="l"/>
                      <a:r>
                        <a:rPr sz="1000" b="0" i="0">
                          <a:solidFill>
                            <a:srgbClr val="000000"/>
                          </a:solidFill>
                          <a:latin typeface="Times New Roman"/>
                        </a:rPr>
                        <a:t>2e-05</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16</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27.8</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33.3</a:t>
                      </a:r>
                    </a:p>
                  </a:txBody>
                  <a:tcPr marL="54864" marR="54864" marT="18288" marB="18288" anchor="ctr">
                    <a:solidFill>
                      <a:srgbClr val="FFFFFF"/>
                    </a:solidFill>
                  </a:tcPr>
                </a:tc>
              </a:tr>
              <a:tr h="283464">
                <a:tc>
                  <a:txBody>
                    <a:bodyPr wrap="square"/>
                    <a:lstStyle/>
                    <a:p>
                      <a:pPr algn="l"/>
                      <a:r>
                        <a:rPr sz="1000" b="0" i="0">
                          <a:solidFill>
                            <a:srgbClr val="000000"/>
                          </a:solidFill>
                          <a:latin typeface="Times New Roman"/>
                        </a:rPr>
                        <a:t>2e-05</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8</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39.3</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42.0</a:t>
                      </a:r>
                    </a:p>
                  </a:txBody>
                  <a:tcPr marL="54864" marR="54864" marT="18288" marB="18288" anchor="ctr">
                    <a:solidFill>
                      <a:srgbClr val="FFFFFF"/>
                    </a:solidFill>
                  </a:tcPr>
                </a:tc>
              </a:tr>
              <a:tr h="283464">
                <a:tc>
                  <a:txBody>
                    <a:bodyPr wrap="square"/>
                    <a:lstStyle/>
                    <a:p>
                      <a:pPr algn="l"/>
                      <a:r>
                        <a:rPr sz="1000" b="0" i="0">
                          <a:solidFill>
                            <a:srgbClr val="000000"/>
                          </a:solidFill>
                          <a:latin typeface="Times New Roman"/>
                        </a:rPr>
                        <a:t>3e-05</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16</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36.0</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38.9</a:t>
                      </a:r>
                    </a:p>
                  </a:txBody>
                  <a:tcPr marL="54864" marR="54864" marT="18288" marB="18288" anchor="ctr">
                    <a:solidFill>
                      <a:srgbClr val="FFFFFF"/>
                    </a:solidFill>
                  </a:tcPr>
                </a:tc>
              </a:tr>
              <a:tr h="283464">
                <a:tc>
                  <a:txBody>
                    <a:bodyPr wrap="square"/>
                    <a:lstStyle/>
                    <a:p>
                      <a:pPr algn="l"/>
                      <a:r>
                        <a:rPr sz="1000" b="1" i="0">
                          <a:solidFill>
                            <a:srgbClr val="000000"/>
                          </a:solidFill>
                          <a:latin typeface="Times New Roman"/>
                        </a:rPr>
                        <a:t>3e-05</a:t>
                      </a:r>
                    </a:p>
                  </a:txBody>
                  <a:tcPr marL="54864" marR="54864" marT="18288" marB="18288" anchor="ctr">
                    <a:solidFill>
                      <a:srgbClr val="FBECEC"/>
                    </a:solidFill>
                  </a:tcPr>
                </a:tc>
                <a:tc>
                  <a:txBody>
                    <a:bodyPr wrap="square"/>
                    <a:lstStyle/>
                    <a:p>
                      <a:pPr algn="ctr"/>
                      <a:r>
                        <a:rPr sz="1000" b="1" i="0">
                          <a:solidFill>
                            <a:srgbClr val="000000"/>
                          </a:solidFill>
                          <a:latin typeface="Times New Roman"/>
                        </a:rPr>
                        <a:t>8</a:t>
                      </a:r>
                    </a:p>
                  </a:txBody>
                  <a:tcPr marL="54864" marR="54864" marT="18288" marB="18288" anchor="ctr">
                    <a:solidFill>
                      <a:srgbClr val="FBECEC"/>
                    </a:solidFill>
                  </a:tcPr>
                </a:tc>
                <a:tc>
                  <a:txBody>
                    <a:bodyPr wrap="square"/>
                    <a:lstStyle/>
                    <a:p>
                      <a:pPr algn="ctr"/>
                      <a:r>
                        <a:rPr sz="1000" b="1" i="0">
                          <a:solidFill>
                            <a:srgbClr val="000000"/>
                          </a:solidFill>
                          <a:latin typeface="Times New Roman"/>
                        </a:rPr>
                        <a:t>42.4</a:t>
                      </a:r>
                    </a:p>
                  </a:txBody>
                  <a:tcPr marL="54864" marR="54864" marT="18288" marB="18288" anchor="ctr">
                    <a:solidFill>
                      <a:srgbClr val="FBECEC"/>
                    </a:solidFill>
                  </a:tcPr>
                </a:tc>
                <a:tc>
                  <a:txBody>
                    <a:bodyPr wrap="square"/>
                    <a:lstStyle/>
                    <a:p>
                      <a:pPr algn="ctr"/>
                      <a:r>
                        <a:rPr sz="1000" b="1" i="0">
                          <a:solidFill>
                            <a:srgbClr val="000000"/>
                          </a:solidFill>
                          <a:latin typeface="Times New Roman"/>
                        </a:rPr>
                        <a:t>44.8</a:t>
                      </a:r>
                    </a:p>
                  </a:txBody>
                  <a:tcPr marL="54864" marR="54864" marT="18288" marB="18288" anchor="ctr">
                    <a:solidFill>
                      <a:srgbClr val="FBECEC"/>
                    </a:solidFill>
                  </a:tcPr>
                </a:tc>
              </a:tr>
              <a:tr h="283464">
                <a:tc>
                  <a:txBody>
                    <a:bodyPr wrap="square"/>
                    <a:lstStyle/>
                    <a:p>
                      <a:pPr algn="l"/>
                      <a:r>
                        <a:rPr sz="1000" b="0" i="0">
                          <a:solidFill>
                            <a:srgbClr val="000000"/>
                          </a:solidFill>
                          <a:latin typeface="Times New Roman"/>
                        </a:rPr>
                        <a:t>5e-05</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16</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40.3</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43.8</a:t>
                      </a:r>
                    </a:p>
                  </a:txBody>
                  <a:tcPr marL="54864" marR="54864" marT="18288" marB="18288" anchor="ctr">
                    <a:solidFill>
                      <a:srgbClr val="FFFFFF"/>
                    </a:solidFill>
                  </a:tcPr>
                </a:tc>
              </a:tr>
              <a:tr h="283464">
                <a:tc>
                  <a:txBody>
                    <a:bodyPr wrap="square"/>
                    <a:lstStyle/>
                    <a:p>
                      <a:pPr algn="l"/>
                      <a:r>
                        <a:rPr sz="1000" b="0" i="0">
                          <a:solidFill>
                            <a:srgbClr val="000000"/>
                          </a:solidFill>
                          <a:latin typeface="Times New Roman"/>
                        </a:rPr>
                        <a:t>5e-05</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8</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42.2</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45.9</a:t>
                      </a:r>
                    </a:p>
                  </a:txBody>
                  <a:tcPr marL="54864" marR="54864" marT="18288" marB="18288" anchor="ct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Results: Before vs After Fine-Tuning</a:t>
            </a:r>
          </a:p>
        </p:txBody>
      </p:sp>
      <p:graphicFrame>
        <p:nvGraphicFramePr>
          <p:cNvPr id="3" name="F1 per type"/>
          <p:cNvGraphicFramePr>
            <a:graphicFrameLocks noGrp="1"/>
          </p:cNvGraphicFramePr>
          <p:nvPr/>
        </p:nvGraphicFramePr>
        <p:xfrm>
          <a:off x="274320" y="685800"/>
          <a:ext cx="5760720" cy="4297680"/>
        </p:xfrm>
        <a:graphic>
          <a:graphicData uri="http://schemas.openxmlformats.org/drawingml/2006/chart">
            <c:chart xmlns:c="http://schemas.openxmlformats.org/drawingml/2006/chart" r:id="rId3"/>
          </a:graphicData>
        </a:graphic>
      </p:graphicFrame>
      <p:graphicFrame>
        <p:nvGraphicFramePr>
          <p:cNvPr id="4" name="Table"/>
          <p:cNvGraphicFramePr>
            <a:graphicFrameLocks noGrp="1"/>
          </p:cNvGraphicFramePr>
          <p:nvPr/>
        </p:nvGraphicFramePr>
        <p:xfrm>
          <a:off x="6172200" y="822960"/>
          <a:ext cx="2743200" cy="2304288"/>
        </p:xfrm>
        <a:graphic>
          <a:graphicData uri="http://schemas.openxmlformats.org/drawingml/2006/table">
            <a:tbl>
              <a:tblPr firstRow="1" bandRow="1">
                <a:tableStyleId>{5C22544A-7EE6-4342-B048-85BDC9FD1C3A}</a:tableStyleId>
              </a:tblPr>
              <a:tblGrid>
                <a:gridCol w="1554480"/>
                <a:gridCol w="594360"/>
                <a:gridCol w="594360"/>
              </a:tblGrid>
              <a:tr h="329184">
                <a:tc>
                  <a:txBody>
                    <a:bodyPr wrap="square"/>
                    <a:lstStyle/>
                    <a:p>
                      <a:pPr algn="l"/>
                      <a:r>
                        <a:rPr sz="1100" b="1" i="0">
                          <a:solidFill>
                            <a:srgbClr val="FFFFFF"/>
                          </a:solidFill>
                          <a:latin typeface="Times New Roman"/>
                        </a:rPr>
                        <a:t>Metric (%)</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Before</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After</a:t>
                      </a:r>
                    </a:p>
                  </a:txBody>
                  <a:tcPr marL="54864" marR="54864" marT="18288" marB="18288" anchor="ctr">
                    <a:solidFill>
                      <a:srgbClr val="C00000"/>
                    </a:solidFill>
                  </a:tcPr>
                </a:tc>
              </a:tr>
              <a:tr h="329184">
                <a:tc>
                  <a:txBody>
                    <a:bodyPr wrap="square"/>
                    <a:lstStyle/>
                    <a:p>
                      <a:pPr algn="l"/>
                      <a:r>
                        <a:rPr sz="1100" b="1" i="0">
                          <a:solidFill>
                            <a:srgbClr val="000000"/>
                          </a:solidFill>
                          <a:latin typeface="Times New Roman"/>
                        </a:rPr>
                        <a:t>Micro F1, all types</a:t>
                      </a:r>
                    </a:p>
                  </a:txBody>
                  <a:tcPr marL="54864" marR="54864" marT="18288" marB="18288" anchor="ctr">
                    <a:solidFill>
                      <a:srgbClr val="FBECEC"/>
                    </a:solidFill>
                  </a:tcPr>
                </a:tc>
                <a:tc>
                  <a:txBody>
                    <a:bodyPr wrap="square"/>
                    <a:lstStyle/>
                    <a:p>
                      <a:pPr algn="ctr"/>
                      <a:r>
                        <a:rPr sz="1100" b="1" i="0">
                          <a:solidFill>
                            <a:srgbClr val="000000"/>
                          </a:solidFill>
                          <a:latin typeface="Times New Roman"/>
                        </a:rPr>
                        <a:t>10.3</a:t>
                      </a:r>
                    </a:p>
                  </a:txBody>
                  <a:tcPr marL="54864" marR="54864" marT="18288" marB="18288" anchor="ctr">
                    <a:solidFill>
                      <a:srgbClr val="FBECEC"/>
                    </a:solidFill>
                  </a:tcPr>
                </a:tc>
                <a:tc>
                  <a:txBody>
                    <a:bodyPr wrap="square"/>
                    <a:lstStyle/>
                    <a:p>
                      <a:pPr algn="ctr"/>
                      <a:r>
                        <a:rPr sz="1100" b="1" i="0">
                          <a:solidFill>
                            <a:srgbClr val="000000"/>
                          </a:solidFill>
                          <a:latin typeface="Times New Roman"/>
                        </a:rPr>
                        <a:t>44.8</a:t>
                      </a:r>
                    </a:p>
                  </a:txBody>
                  <a:tcPr marL="54864" marR="54864" marT="18288" marB="18288" anchor="ctr">
                    <a:solidFill>
                      <a:srgbClr val="FBECEC"/>
                    </a:solidFill>
                  </a:tcPr>
                </a:tc>
              </a:tr>
              <a:tr h="329184">
                <a:tc>
                  <a:txBody>
                    <a:bodyPr wrap="square"/>
                    <a:lstStyle/>
                    <a:p>
                      <a:pPr algn="l"/>
                      <a:r>
                        <a:rPr sz="1100" b="0" i="0">
                          <a:solidFill>
                            <a:srgbClr val="000000"/>
                          </a:solidFill>
                          <a:latin typeface="Times New Roman"/>
                        </a:rPr>
                        <a:t>Macro F1, all types</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5.2</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44.5</a:t>
                      </a:r>
                    </a:p>
                  </a:txBody>
                  <a:tcPr marL="54864" marR="54864" marT="18288" marB="18288" anchor="ctr">
                    <a:solidFill>
                      <a:srgbClr val="FFFFFF"/>
                    </a:solidFill>
                  </a:tcPr>
                </a:tc>
              </a:tr>
              <a:tr h="329184">
                <a:tc>
                  <a:txBody>
                    <a:bodyPr wrap="square"/>
                    <a:lstStyle/>
                    <a:p>
                      <a:pPr algn="l"/>
                      <a:r>
                        <a:rPr sz="1100" b="0" i="0">
                          <a:solidFill>
                            <a:srgbClr val="000000"/>
                          </a:solidFill>
                          <a:latin typeface="Times New Roman"/>
                        </a:rPr>
                        <a:t>Micro F1, 3 shared types</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12.1</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56.7</a:t>
                      </a:r>
                    </a:p>
                  </a:txBody>
                  <a:tcPr marL="54864" marR="54864" marT="18288" marB="18288" anchor="ctr">
                    <a:solidFill>
                      <a:srgbClr val="FFFFFF"/>
                    </a:solidFill>
                  </a:tcPr>
                </a:tc>
              </a:tr>
              <a:tr h="329184">
                <a:tc>
                  <a:txBody>
                    <a:bodyPr wrap="square"/>
                    <a:lstStyle/>
                    <a:p>
                      <a:pPr algn="l"/>
                      <a:r>
                        <a:rPr sz="1100" b="0" i="0">
                          <a:solidFill>
                            <a:srgbClr val="000000"/>
                          </a:solidFill>
                          <a:latin typeface="Times New Roman"/>
                        </a:rPr>
                        <a:t>Precision (micro)</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6.9</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38.7</a:t>
                      </a:r>
                    </a:p>
                  </a:txBody>
                  <a:tcPr marL="54864" marR="54864" marT="18288" marB="18288" anchor="ctr">
                    <a:solidFill>
                      <a:srgbClr val="FFFFFF"/>
                    </a:solidFill>
                  </a:tcPr>
                </a:tc>
              </a:tr>
              <a:tr h="329184">
                <a:tc>
                  <a:txBody>
                    <a:bodyPr wrap="square"/>
                    <a:lstStyle/>
                    <a:p>
                      <a:pPr algn="l"/>
                      <a:r>
                        <a:rPr sz="1100" b="0" i="0">
                          <a:solidFill>
                            <a:srgbClr val="000000"/>
                          </a:solidFill>
                          <a:latin typeface="Times New Roman"/>
                        </a:rPr>
                        <a:t>Recall (micro)</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20.2</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53.1</a:t>
                      </a:r>
                    </a:p>
                  </a:txBody>
                  <a:tcPr marL="54864" marR="54864" marT="18288" marB="18288" anchor="ctr">
                    <a:solidFill>
                      <a:srgbClr val="FFFFFF"/>
                    </a:solidFill>
                  </a:tcPr>
                </a:tc>
              </a:tr>
              <a:tr h="329184">
                <a:tc>
                  <a:txBody>
                    <a:bodyPr wrap="square"/>
                    <a:lstStyle/>
                    <a:p>
                      <a:pPr algn="l"/>
                      <a:r>
                        <a:rPr sz="1100" b="0" i="0">
                          <a:solidFill>
                            <a:srgbClr val="000000"/>
                          </a:solidFill>
                          <a:latin typeface="Times New Roman"/>
                        </a:rPr>
                        <a:t>+ regex rules (micro F1)</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45.6</a:t>
                      </a:r>
                    </a:p>
                  </a:txBody>
                  <a:tcPr marL="54864" marR="54864" marT="18288" marB="18288" anchor="ctr">
                    <a:solidFill>
                      <a:srgbClr val="FFFFFF"/>
                    </a:solidFill>
                  </a:tcPr>
                </a:tc>
              </a:tr>
            </a:tbl>
          </a:graphicData>
        </a:graphic>
      </p:graphicFrame>
      <p:sp>
        <p:nvSpPr>
          <p:cNvPr id="5" name="TextBox 4"/>
          <p:cNvSpPr txBox="1"/>
          <p:nvPr/>
        </p:nvSpPr>
        <p:spPr>
          <a:xfrm>
            <a:off x="6172200" y="3246120"/>
            <a:ext cx="2743200" cy="274320"/>
          </a:xfrm>
          <a:prstGeom prst="rect">
            <a:avLst/>
          </a:prstGeom>
          <a:noFill/>
        </p:spPr>
        <p:txBody>
          <a:bodyPr wrap="square">
            <a:spAutoFit/>
          </a:bodyPr>
          <a:lstStyle/>
          <a:p>
            <a:pPr algn="ctr"/>
            <a:r>
              <a:rPr sz="1100" b="0" i="1">
                <a:solidFill>
                  <a:srgbClr val="404040"/>
                </a:solidFill>
                <a:latin typeface="Times New Roman"/>
              </a:rPr>
              <a:t>Test split: 33 resumes, 501 gold entities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Results: 5-Fold Cross-Validation and Efficiency</a:t>
            </a:r>
          </a:p>
        </p:txBody>
      </p:sp>
      <p:graphicFrame>
        <p:nvGraphicFramePr>
          <p:cNvPr id="3" name="CV folds"/>
          <p:cNvGraphicFramePr>
            <a:graphicFrameLocks noGrp="1"/>
          </p:cNvGraphicFramePr>
          <p:nvPr/>
        </p:nvGraphicFramePr>
        <p:xfrm>
          <a:off x="274320" y="685800"/>
          <a:ext cx="5120640" cy="4297680"/>
        </p:xfrm>
        <a:graphic>
          <a:graphicData uri="http://schemas.openxmlformats.org/drawingml/2006/chart">
            <c:chart xmlns:c="http://schemas.openxmlformats.org/drawingml/2006/chart" r:id="rId3"/>
          </a:graphicData>
        </a:graphic>
      </p:graphicFrame>
      <p:sp>
        <p:nvSpPr>
          <p:cNvPr id="4" name="Stat fine-tuned CV micro-"/>
          <p:cNvSpPr/>
          <p:nvPr/>
        </p:nvSpPr>
        <p:spPr>
          <a:xfrm>
            <a:off x="5669280" y="777240"/>
            <a:ext cx="3200400" cy="109728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40.7 ± 2.7</a:t>
            </a:r>
          </a:p>
          <a:p>
            <a:pPr algn="ctr"/>
            <a:r>
              <a:rPr sz="1200" b="0" i="0">
                <a:solidFill>
                  <a:srgbClr val="404040"/>
                </a:solidFill>
                <a:latin typeface="Times New Roman"/>
              </a:rPr>
              <a:t>fine-tuned CV micro-F1 (%) vs 10.2 ± 1.1 before</a:t>
            </a:r>
          </a:p>
        </p:txBody>
      </p:sp>
      <p:sp>
        <p:nvSpPr>
          <p:cNvPr id="5" name="Stat CPU per resume (p95 "/>
          <p:cNvSpPr/>
          <p:nvPr/>
        </p:nvSpPr>
        <p:spPr>
          <a:xfrm>
            <a:off x="5669280" y="2011680"/>
            <a:ext cx="3200400" cy="96012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1.19 s</a:t>
            </a:r>
          </a:p>
          <a:p>
            <a:pPr algn="ctr"/>
            <a:r>
              <a:rPr sz="1200" b="0" i="0">
                <a:solidFill>
                  <a:srgbClr val="404040"/>
                </a:solidFill>
                <a:latin typeface="Times New Roman"/>
              </a:rPr>
              <a:t>CPU per resume (p95 3.0 s)</a:t>
            </a:r>
          </a:p>
        </p:txBody>
      </p:sp>
      <p:sp>
        <p:nvSpPr>
          <p:cNvPr id="6" name="Stat model size · trained"/>
          <p:cNvSpPr/>
          <p:nvPr/>
        </p:nvSpPr>
        <p:spPr>
          <a:xfrm>
            <a:off x="5669280" y="3108960"/>
            <a:ext cx="3200400" cy="96012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411 MB</a:t>
            </a:r>
          </a:p>
          <a:p>
            <a:pPr algn="ctr"/>
            <a:r>
              <a:rPr sz="1200" b="0" i="0">
                <a:solidFill>
                  <a:srgbClr val="404040"/>
                </a:solidFill>
                <a:latin typeface="Times New Roman"/>
              </a:rPr>
              <a:t>model size · trained in 206 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Qualitative Examples: Same Snippet, Both Models</a:t>
            </a:r>
          </a:p>
        </p:txBody>
      </p:sp>
      <p:graphicFrame>
        <p:nvGraphicFramePr>
          <p:cNvPr id="3" name="Qualitative"/>
          <p:cNvGraphicFramePr>
            <a:graphicFrameLocks noGrp="1"/>
          </p:cNvGraphicFramePr>
          <p:nvPr/>
        </p:nvGraphicFramePr>
        <p:xfrm>
          <a:off x="274320" y="731520"/>
          <a:ext cx="8595360" cy="3977640"/>
        </p:xfrm>
        <a:graphic>
          <a:graphicData uri="http://schemas.openxmlformats.org/drawingml/2006/table">
            <a:tbl>
              <a:tblPr firstRow="1" bandRow="1">
                <a:tableStyleId>{5C22544A-7EE6-4342-B048-85BDC9FD1C3A}</a:tableStyleId>
              </a:tblPr>
              <a:tblGrid>
                <a:gridCol w="2148840"/>
                <a:gridCol w="2148840"/>
                <a:gridCol w="2148840"/>
                <a:gridCol w="2148840"/>
              </a:tblGrid>
              <a:tr h="320040">
                <a:tc>
                  <a:txBody>
                    <a:bodyPr wrap="square"/>
                    <a:lstStyle/>
                    <a:p>
                      <a:pPr algn="l"/>
                      <a:r>
                        <a:rPr sz="1000" b="1" i="0">
                          <a:solidFill>
                            <a:srgbClr val="FFFFFF"/>
                          </a:solidFill>
                          <a:latin typeface="Times New Roman"/>
                        </a:rPr>
                        <a:t>Snippet</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Gold</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Pretrained (before)</a:t>
                      </a:r>
                    </a:p>
                  </a:txBody>
                  <a:tcPr marL="54864" marR="54864" marT="18288" marB="18288" anchor="ctr">
                    <a:solidFill>
                      <a:srgbClr val="C00000"/>
                    </a:solidFill>
                  </a:tcPr>
                </a:tc>
                <a:tc>
                  <a:txBody>
                    <a:bodyPr wrap="square"/>
                    <a:lstStyle/>
                    <a:p>
                      <a:pPr algn="ctr"/>
                      <a:r>
                        <a:rPr sz="1000" b="1" i="0">
                          <a:solidFill>
                            <a:srgbClr val="FFFFFF"/>
                          </a:solidFill>
                          <a:latin typeface="Times New Roman"/>
                        </a:rPr>
                        <a:t>Fine-tuned (after)</a:t>
                      </a:r>
                    </a:p>
                  </a:txBody>
                  <a:tcPr marL="54864" marR="54864" marT="18288" marB="18288" anchor="ctr">
                    <a:solidFill>
                      <a:srgbClr val="C00000"/>
                    </a:solidFill>
                  </a:tcPr>
                </a:tc>
              </a:tr>
              <a:tr h="1828800">
                <a:tc>
                  <a:txBody>
                    <a:bodyPr wrap="square"/>
                    <a:lstStyle/>
                    <a:p>
                      <a:pPr algn="l"/>
                      <a:r>
                        <a:rPr sz="1000" b="0" i="0">
                          <a:solidFill>
                            <a:srgbClr val="000000"/>
                          </a:solidFill>
                          <a:latin typeface="Times New Roman"/>
                        </a:rPr>
                        <a:t>Ashok Kunam
Team Lead - Microsoft
- Email me on Indeed: indeed.com/r/Ashok-Kunam/7aac8767aacf10a0
• Software Engineering professional with over 2.5 years of experience in</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Ashok Kunam → NAME
Team Lead → DESIGNATION
Microsoft → COMPANY
indeed.com/r/Ashok-Kunam/7aac8767a → EMAIL</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Ashok Kunam → NAME
Microsoft → COMPANY
Kunam → LOCATION
Software Engineering → COMPANY</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Ashok Kunam → NAME
Team Lead → DESIGNATION
Microsoft → COMPANY
indeed.com/r/Ashok-Kunam/7aac8767a → EMAIL
2.5 years → YRS EXP.</a:t>
                      </a:r>
                    </a:p>
                  </a:txBody>
                  <a:tcPr marL="54864" marR="54864" marT="18288" marB="18288" anchor="ctr">
                    <a:solidFill>
                      <a:srgbClr val="FFFFFF"/>
                    </a:solidFill>
                  </a:tcPr>
                </a:tc>
              </a:tr>
              <a:tr h="1828800">
                <a:tc>
                  <a:txBody>
                    <a:bodyPr wrap="square"/>
                    <a:lstStyle/>
                    <a:p>
                      <a:pPr algn="l"/>
                      <a:r>
                        <a:rPr sz="1000" b="0" i="0">
                          <a:solidFill>
                            <a:srgbClr val="000000"/>
                          </a:solidFill>
                          <a:latin typeface="Times New Roman"/>
                        </a:rPr>
                        <a:t>The divisions were also compared against each other (comparison reports)
EDUCATION
B.E
Visvesvaraya Technological University
2017
Bachelor of Engineering in Engineering</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B.E → DEGREE
Visvesvaraya Technological Univers → COLLEGE
Bachelor of Engineering in Enginee → DEGREE</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Technological University → COMPANY
Engineering → COMPANY
Engineering → COMPANY</a:t>
                      </a:r>
                    </a:p>
                  </a:txBody>
                  <a:tcPr marL="54864" marR="54864" marT="18288" marB="18288" anchor="ctr">
                    <a:solidFill>
                      <a:srgbClr val="FFFFFF"/>
                    </a:solidFill>
                  </a:tcPr>
                </a:tc>
                <a:tc>
                  <a:txBody>
                    <a:bodyPr wrap="square"/>
                    <a:lstStyle/>
                    <a:p>
                      <a:pPr algn="ctr"/>
                      <a:r>
                        <a:rPr sz="1000" b="0" i="0">
                          <a:solidFill>
                            <a:srgbClr val="000000"/>
                          </a:solidFill>
                          <a:latin typeface="Times New Roman"/>
                        </a:rPr>
                        <a:t>B.E → DEGREE
Visvesvaraya Technological Univers → COLLEGE
2017 → GRAD. YEAR
Bachelor of Engineering in Enginee → DEGREE</a:t>
                      </a:r>
                    </a:p>
                  </a:txBody>
                  <a:tcPr marL="54864" marR="54864" marT="18288" marB="18288"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Ablations and Error Analysis</a:t>
            </a:r>
          </a:p>
        </p:txBody>
      </p:sp>
      <p:graphicFrame>
        <p:nvGraphicFramePr>
          <p:cNvPr id="3" name="Ablations"/>
          <p:cNvGraphicFramePr>
            <a:graphicFrameLocks noGrp="1"/>
          </p:cNvGraphicFramePr>
          <p:nvPr/>
        </p:nvGraphicFramePr>
        <p:xfrm>
          <a:off x="274320" y="685800"/>
          <a:ext cx="4754880" cy="4297680"/>
        </p:xfrm>
        <a:graphic>
          <a:graphicData uri="http://schemas.openxmlformats.org/drawingml/2006/chart">
            <c:chart xmlns:c="http://schemas.openxmlformats.org/drawingml/2006/chart" r:id="rId3"/>
          </a:graphicData>
        </a:graphic>
      </p:graphicFrame>
      <p:graphicFrame>
        <p:nvGraphicFramePr>
          <p:cNvPr id="4" name="Table"/>
          <p:cNvGraphicFramePr>
            <a:graphicFrameLocks noGrp="1"/>
          </p:cNvGraphicFramePr>
          <p:nvPr/>
        </p:nvGraphicFramePr>
        <p:xfrm>
          <a:off x="5303520" y="822960"/>
          <a:ext cx="3566160" cy="1536192"/>
        </p:xfrm>
        <a:graphic>
          <a:graphicData uri="http://schemas.openxmlformats.org/drawingml/2006/table">
            <a:tbl>
              <a:tblPr firstRow="1" bandRow="1">
                <a:tableStyleId>{5C22544A-7EE6-4342-B048-85BDC9FD1C3A}</a:tableStyleId>
              </a:tblPr>
              <a:tblGrid>
                <a:gridCol w="2651760"/>
                <a:gridCol w="914400"/>
              </a:tblGrid>
              <a:tr h="256032">
                <a:tc>
                  <a:txBody>
                    <a:bodyPr wrap="square"/>
                    <a:lstStyle/>
                    <a:p>
                      <a:pPr algn="l"/>
                      <a:r>
                        <a:rPr sz="1100" b="1" i="0">
                          <a:solidFill>
                            <a:srgbClr val="FFFFFF"/>
                          </a:solidFill>
                          <a:latin typeface="Times New Roman"/>
                        </a:rPr>
                        <a:t>Error category (test)</a:t>
                      </a:r>
                    </a:p>
                  </a:txBody>
                  <a:tcPr marL="54864" marR="54864" marT="18288" marB="18288" anchor="ctr">
                    <a:solidFill>
                      <a:srgbClr val="C00000"/>
                    </a:solidFill>
                  </a:tcPr>
                </a:tc>
                <a:tc>
                  <a:txBody>
                    <a:bodyPr wrap="square"/>
                    <a:lstStyle/>
                    <a:p>
                      <a:pPr algn="ctr"/>
                      <a:r>
                        <a:rPr sz="1100" b="1" i="0">
                          <a:solidFill>
                            <a:srgbClr val="FFFFFF"/>
                          </a:solidFill>
                          <a:latin typeface="Times New Roman"/>
                        </a:rPr>
                        <a:t>Count</a:t>
                      </a:r>
                    </a:p>
                  </a:txBody>
                  <a:tcPr marL="54864" marR="54864" marT="18288" marB="18288" anchor="ctr">
                    <a:solidFill>
                      <a:srgbClr val="C00000"/>
                    </a:solidFill>
                  </a:tcPr>
                </a:tc>
              </a:tr>
              <a:tr h="256032">
                <a:tc>
                  <a:txBody>
                    <a:bodyPr wrap="square"/>
                    <a:lstStyle/>
                    <a:p>
                      <a:pPr algn="l"/>
                      <a:r>
                        <a:rPr sz="1100" b="0" i="0">
                          <a:solidFill>
                            <a:srgbClr val="000000"/>
                          </a:solidFill>
                          <a:latin typeface="Times New Roman"/>
                        </a:rPr>
                        <a:t>Correct</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266</a:t>
                      </a:r>
                    </a:p>
                  </a:txBody>
                  <a:tcPr marL="54864" marR="54864" marT="18288" marB="18288" anchor="ctr">
                    <a:solidFill>
                      <a:srgbClr val="FFFFFF"/>
                    </a:solidFill>
                  </a:tcPr>
                </a:tc>
              </a:tr>
              <a:tr h="256032">
                <a:tc>
                  <a:txBody>
                    <a:bodyPr wrap="square"/>
                    <a:lstStyle/>
                    <a:p>
                      <a:pPr algn="l"/>
                      <a:r>
                        <a:rPr sz="1100" b="0" i="0">
                          <a:solidFill>
                            <a:srgbClr val="000000"/>
                          </a:solidFill>
                          <a:latin typeface="Times New Roman"/>
                        </a:rPr>
                        <a:t>Boundary error</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121</a:t>
                      </a:r>
                    </a:p>
                  </a:txBody>
                  <a:tcPr marL="54864" marR="54864" marT="18288" marB="18288" anchor="ctr">
                    <a:solidFill>
                      <a:srgbClr val="FFFFFF"/>
                    </a:solidFill>
                  </a:tcPr>
                </a:tc>
              </a:tr>
              <a:tr h="256032">
                <a:tc>
                  <a:txBody>
                    <a:bodyPr wrap="square"/>
                    <a:lstStyle/>
                    <a:p>
                      <a:pPr algn="l"/>
                      <a:r>
                        <a:rPr sz="1100" b="0" i="0">
                          <a:solidFill>
                            <a:srgbClr val="000000"/>
                          </a:solidFill>
                          <a:latin typeface="Times New Roman"/>
                        </a:rPr>
                        <a:t>Type error (incl. boundary+type)</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10</a:t>
                      </a:r>
                    </a:p>
                  </a:txBody>
                  <a:tcPr marL="54864" marR="54864" marT="18288" marB="18288" anchor="ctr">
                    <a:solidFill>
                      <a:srgbClr val="FFFFFF"/>
                    </a:solidFill>
                  </a:tcPr>
                </a:tc>
              </a:tr>
              <a:tr h="256032">
                <a:tc>
                  <a:txBody>
                    <a:bodyPr wrap="square"/>
                    <a:lstStyle/>
                    <a:p>
                      <a:pPr algn="l"/>
                      <a:r>
                        <a:rPr sz="1100" b="0" i="0">
                          <a:solidFill>
                            <a:srgbClr val="000000"/>
                          </a:solidFill>
                          <a:latin typeface="Times New Roman"/>
                        </a:rPr>
                        <a:t>Missed</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104</a:t>
                      </a:r>
                    </a:p>
                  </a:txBody>
                  <a:tcPr marL="54864" marR="54864" marT="18288" marB="18288" anchor="ctr">
                    <a:solidFill>
                      <a:srgbClr val="FFFFFF"/>
                    </a:solidFill>
                  </a:tcPr>
                </a:tc>
              </a:tr>
              <a:tr h="256032">
                <a:tc>
                  <a:txBody>
                    <a:bodyPr wrap="square"/>
                    <a:lstStyle/>
                    <a:p>
                      <a:pPr algn="l"/>
                      <a:r>
                        <a:rPr sz="1100" b="0" i="0">
                          <a:solidFill>
                            <a:srgbClr val="000000"/>
                          </a:solidFill>
                          <a:latin typeface="Times New Roman"/>
                        </a:rPr>
                        <a:t>Spurious</a:t>
                      </a:r>
                    </a:p>
                  </a:txBody>
                  <a:tcPr marL="54864" marR="54864" marT="18288" marB="18288" anchor="ctr">
                    <a:solidFill>
                      <a:srgbClr val="FFFFFF"/>
                    </a:solidFill>
                  </a:tcPr>
                </a:tc>
                <a:tc>
                  <a:txBody>
                    <a:bodyPr wrap="square"/>
                    <a:lstStyle/>
                    <a:p>
                      <a:pPr algn="ctr"/>
                      <a:r>
                        <a:rPr sz="1100" b="0" i="0">
                          <a:solidFill>
                            <a:srgbClr val="000000"/>
                          </a:solidFill>
                          <a:latin typeface="Times New Roman"/>
                        </a:rPr>
                        <a:t>224</a:t>
                      </a:r>
                    </a:p>
                  </a:txBody>
                  <a:tcPr marL="54864" marR="54864" marT="18288" marB="18288" anchor="ctr">
                    <a:solidFill>
                      <a:srgbClr val="FFFFFF"/>
                    </a:solidFill>
                  </a:tcPr>
                </a:tc>
              </a:tr>
            </a:tbl>
          </a:graphicData>
        </a:graphic>
      </p:graphicFrame>
      <p:sp>
        <p:nvSpPr>
          <p:cNvPr id="5" name="Body"/>
          <p:cNvSpPr txBox="1"/>
          <p:nvPr/>
        </p:nvSpPr>
        <p:spPr>
          <a:xfrm>
            <a:off x="5303520" y="2606040"/>
            <a:ext cx="3566160" cy="2286000"/>
          </a:xfrm>
          <a:prstGeom prst="rect">
            <a:avLst/>
          </a:prstGeom>
          <a:noFill/>
        </p:spPr>
        <p:txBody>
          <a:bodyPr wrap="square">
            <a:spAutoFit/>
          </a:bodyPr>
          <a:lstStyle/>
          <a:p>
            <a:pPr marL="228600" indent="-228600">
              <a:spcAft>
                <a:spcPts val="500"/>
              </a:spcAft>
              <a:buFont typeface="Arial"/>
              <a:buChar char="•"/>
            </a:pPr>
            <a:r>
              <a:rPr sz="1200" b="1" i="0">
                <a:solidFill>
                  <a:srgbClr val="000000"/>
                </a:solidFill>
                <a:latin typeface="Times New Roman"/>
              </a:rPr>
              <a:t>Hardest:</a:t>
            </a:r>
            <a:r>
              <a:rPr sz="1200" b="0" i="0">
                <a:solidFill>
                  <a:srgbClr val="000000"/>
                </a:solidFill>
                <a:latin typeface="Times New Roman"/>
              </a:rPr>
              <a:t> SKILLS (11.1), YEARS_OF_EXPERIENCE (13.3), COLLEGE_NAME (37.0)</a:t>
            </a:r>
          </a:p>
          <a:p>
            <a:pPr marL="228600" indent="-228600">
              <a:spcAft>
                <a:spcPts val="500"/>
              </a:spcAft>
              <a:buFont typeface="Arial"/>
              <a:buChar char="•"/>
            </a:pPr>
            <a:r>
              <a:rPr sz="1200" b="1" i="0">
                <a:solidFill>
                  <a:srgbClr val="000000"/>
                </a:solidFill>
                <a:latin typeface="Times New Roman"/>
              </a:rPr>
              <a:t>SKILLS:</a:t>
            </a:r>
            <a:r>
              <a:rPr sz="1200" b="0" i="0">
                <a:solidFill>
                  <a:srgbClr val="000000"/>
                </a:solidFill>
                <a:latin typeface="Times New Roman"/>
              </a:rPr>
              <a:t> whole sections up to 352 words → boundary errors</a:t>
            </a:r>
          </a:p>
          <a:p>
            <a:pPr marL="228600" indent="-228600">
              <a:spcAft>
                <a:spcPts val="500"/>
              </a:spcAft>
              <a:buFont typeface="Arial"/>
              <a:buChar char="•"/>
            </a:pPr>
            <a:r>
              <a:rPr sz="1200" b="1" i="0">
                <a:solidFill>
                  <a:srgbClr val="000000"/>
                </a:solidFill>
                <a:latin typeface="Times New Roman"/>
              </a:rPr>
              <a:t>Annotation gaps:</a:t>
            </a:r>
            <a:r>
              <a:rPr sz="1200" b="0" i="0">
                <a:solidFill>
                  <a:srgbClr val="000000"/>
                </a:solidFill>
                <a:latin typeface="Times New Roman"/>
              </a:rPr>
              <a:t> 26 unlabelled Indeed URLs; URL labelled LOCATION in 4 resumes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Live Demo: Pretrained vs Fine-Tuned Toggle</a:t>
            </a:r>
          </a:p>
        </p:txBody>
      </p:sp>
      <p:pic>
        <p:nvPicPr>
          <p:cNvPr id="3" name="demo_compare" descr="demo_compare.png"/>
          <p:cNvPicPr>
            <a:picLocks noChangeAspect="1"/>
          </p:cNvPicPr>
          <p:nvPr/>
        </p:nvPicPr>
        <p:blipFill>
          <a:blip r:embed="rId3"/>
          <a:stretch>
            <a:fillRect/>
          </a:stretch>
        </p:blipFill>
        <p:spPr>
          <a:xfrm>
            <a:off x="274320" y="685800"/>
            <a:ext cx="4456645" cy="4023360"/>
          </a:xfrm>
          <a:prstGeom prst="rect">
            <a:avLst/>
          </a:prstGeom>
        </p:spPr>
      </p:pic>
      <p:pic>
        <p:nvPicPr>
          <p:cNvPr id="4" name="demo_fields" descr="demo_fields.png"/>
          <p:cNvPicPr>
            <a:picLocks noChangeAspect="1"/>
          </p:cNvPicPr>
          <p:nvPr/>
        </p:nvPicPr>
        <p:blipFill>
          <a:blip r:embed="rId4"/>
          <a:stretch>
            <a:fillRect/>
          </a:stretch>
        </p:blipFill>
        <p:spPr>
          <a:xfrm>
            <a:off x="4800600" y="685800"/>
            <a:ext cx="4069080" cy="3108325"/>
          </a:xfrm>
          <a:prstGeom prst="rect">
            <a:avLst/>
          </a:prstGeom>
        </p:spPr>
      </p:pic>
      <p:sp>
        <p:nvSpPr>
          <p:cNvPr id="5" name="Body"/>
          <p:cNvSpPr txBox="1"/>
          <p:nvPr/>
        </p:nvSpPr>
        <p:spPr>
          <a:xfrm>
            <a:off x="4800600" y="3931920"/>
            <a:ext cx="4069080" cy="1097280"/>
          </a:xfrm>
          <a:prstGeom prst="rect">
            <a:avLst/>
          </a:prstGeom>
          <a:noFill/>
        </p:spPr>
        <p:txBody>
          <a:bodyPr wrap="square">
            <a:spAutoFit/>
          </a:bodyPr>
          <a:lstStyle/>
          <a:p>
            <a:pPr marL="228600" indent="-228600">
              <a:spcAft>
                <a:spcPts val="300"/>
              </a:spcAft>
              <a:buFont typeface="Arial"/>
              <a:buChar char="•"/>
            </a:pPr>
            <a:r>
              <a:rPr sz="1300" b="0" i="0">
                <a:solidFill>
                  <a:srgbClr val="000000"/>
                </a:solidFill>
                <a:latin typeface="Times New Roman"/>
              </a:rPr>
              <a:t>Upload PDF / DOCX / TXT or pick a sample</a:t>
            </a:r>
          </a:p>
          <a:p>
            <a:pPr marL="228600" indent="-228600">
              <a:spcAft>
                <a:spcPts val="300"/>
              </a:spcAft>
              <a:buFont typeface="Arial"/>
              <a:buChar char="•"/>
            </a:pPr>
            <a:r>
              <a:rPr sz="1300" b="0" i="0">
                <a:solidFill>
                  <a:srgbClr val="000000"/>
                </a:solidFill>
                <a:latin typeface="Times New Roman"/>
              </a:rPr>
              <a:t>Pretrained · fine-tuned · side-by-side toggle</a:t>
            </a:r>
          </a:p>
          <a:p>
            <a:pPr marL="228600" indent="-228600">
              <a:spcAft>
                <a:spcPts val="300"/>
              </a:spcAft>
              <a:buFont typeface="Arial"/>
              <a:buChar char="•"/>
            </a:pPr>
            <a:r>
              <a:rPr sz="1300" b="0" i="0">
                <a:solidFill>
                  <a:srgbClr val="000000"/>
                </a:solidFill>
                <a:latin typeface="Times New Roman"/>
              </a:rPr>
              <a:t>Gold labels + per-document F1 for test resumes</a:t>
            </a:r>
          </a:p>
          <a:p>
            <a:pPr marL="228600" indent="-228600">
              <a:spcAft>
                <a:spcPts val="300"/>
              </a:spcAft>
              <a:buFont typeface="Arial"/>
              <a:buChar char="•"/>
            </a:pPr>
            <a:r>
              <a:rPr sz="1300" b="0" i="0">
                <a:solidFill>
                  <a:srgbClr val="000000"/>
                </a:solidFill>
                <a:latin typeface="Times New Roman"/>
              </a:rPr>
              <a:t>Results tab: before-vs-after tables and figures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Discussion and Challenges</a:t>
            </a:r>
          </a:p>
        </p:txBody>
      </p:sp>
      <p:sp>
        <p:nvSpPr>
          <p:cNvPr id="3" name="Card Why fine-tuning helps"/>
          <p:cNvSpPr/>
          <p:nvPr/>
        </p:nvSpPr>
        <p:spPr>
          <a:xfrm>
            <a:off x="320040" y="822960"/>
            <a:ext cx="2697480" cy="3017520"/>
          </a:xfrm>
          <a:prstGeom prst="roundRect">
            <a:avLst>
              <a:gd name="adj" fmla="val 5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ody"/>
          <p:cNvSpPr txBox="1"/>
          <p:nvPr/>
        </p:nvSpPr>
        <p:spPr>
          <a:xfrm>
            <a:off x="411479" y="914400"/>
            <a:ext cx="2514600" cy="411480"/>
          </a:xfrm>
          <a:prstGeom prst="rect">
            <a:avLst/>
          </a:prstGeom>
          <a:noFill/>
        </p:spPr>
        <p:txBody>
          <a:bodyPr wrap="square">
            <a:spAutoFit/>
          </a:bodyPr>
          <a:lstStyle/>
          <a:p>
            <a:pPr>
              <a:spcAft>
                <a:spcPts val="600"/>
              </a:spcAft>
            </a:pPr>
            <a:r>
              <a:rPr sz="1700" b="1" i="0">
                <a:solidFill>
                  <a:srgbClr val="C00000"/>
                </a:solidFill>
                <a:latin typeface="Times New Roman"/>
              </a:rPr>
              <a:t>Why fine-tuning helps</a:t>
            </a:r>
          </a:p>
        </p:txBody>
      </p:sp>
      <p:sp>
        <p:nvSpPr>
          <p:cNvPr id="5" name="Body"/>
          <p:cNvSpPr txBox="1"/>
          <p:nvPr/>
        </p:nvSpPr>
        <p:spPr>
          <a:xfrm>
            <a:off x="411479" y="1371600"/>
            <a:ext cx="2514600" cy="3383280"/>
          </a:xfrm>
          <a:prstGeom prst="rect">
            <a:avLst/>
          </a:prstGeom>
          <a:noFill/>
        </p:spPr>
        <p:txBody>
          <a:bodyPr wrap="square">
            <a:spAutoFit/>
          </a:bodyPr>
          <a:lstStyle/>
          <a:p>
            <a:pPr marL="228600" indent="-228600">
              <a:spcAft>
                <a:spcPts val="800"/>
              </a:spcAft>
              <a:buFont typeface="Arial"/>
              <a:buChar char="•"/>
            </a:pPr>
            <a:r>
              <a:rPr sz="1300" b="0" i="0">
                <a:solidFill>
                  <a:srgbClr val="000000"/>
                </a:solidFill>
                <a:latin typeface="Times New Roman"/>
              </a:rPr>
              <a:t>New labels: 7 of 10 types do not exist in CoNLL</a:t>
            </a:r>
          </a:p>
          <a:p>
            <a:pPr marL="228600" indent="-228600">
              <a:spcAft>
                <a:spcPts val="800"/>
              </a:spcAft>
              <a:buFont typeface="Arial"/>
              <a:buChar char="•"/>
            </a:pPr>
            <a:r>
              <a:rPr sz="1300" b="0" i="0">
                <a:solidFill>
                  <a:srgbClr val="000000"/>
                </a:solidFill>
                <a:latin typeface="Times New Roman"/>
              </a:rPr>
              <a:t>Guidelines shift: only employers, the candidate's city</a:t>
            </a:r>
          </a:p>
          <a:p>
            <a:pPr marL="228600" indent="-228600">
              <a:spcAft>
                <a:spcPts val="800"/>
              </a:spcAft>
              <a:buFont typeface="Arial"/>
              <a:buChar char="•"/>
            </a:pPr>
            <a:r>
              <a:rPr sz="1300" b="0" i="0">
                <a:solidFill>
                  <a:srgbClr val="000000"/>
                </a:solidFill>
                <a:latin typeface="Times New Roman"/>
              </a:rPr>
              <a:t>Encoder knowledge is reused: big gain from 153 resumes</a:t>
            </a:r>
          </a:p>
        </p:txBody>
      </p:sp>
      <p:sp>
        <p:nvSpPr>
          <p:cNvPr id="6" name="Card Challenges"/>
          <p:cNvSpPr/>
          <p:nvPr/>
        </p:nvSpPr>
        <p:spPr>
          <a:xfrm>
            <a:off x="3200400" y="822960"/>
            <a:ext cx="2697480" cy="3017520"/>
          </a:xfrm>
          <a:prstGeom prst="roundRect">
            <a:avLst>
              <a:gd name="adj" fmla="val 5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ody"/>
          <p:cNvSpPr txBox="1"/>
          <p:nvPr/>
        </p:nvSpPr>
        <p:spPr>
          <a:xfrm>
            <a:off x="3291840" y="914400"/>
            <a:ext cx="2514600" cy="411480"/>
          </a:xfrm>
          <a:prstGeom prst="rect">
            <a:avLst/>
          </a:prstGeom>
          <a:noFill/>
        </p:spPr>
        <p:txBody>
          <a:bodyPr wrap="square">
            <a:spAutoFit/>
          </a:bodyPr>
          <a:lstStyle/>
          <a:p>
            <a:pPr>
              <a:spcAft>
                <a:spcPts val="600"/>
              </a:spcAft>
            </a:pPr>
            <a:r>
              <a:rPr sz="1700" b="1" i="0">
                <a:solidFill>
                  <a:srgbClr val="C00000"/>
                </a:solidFill>
                <a:latin typeface="Times New Roman"/>
              </a:rPr>
              <a:t>Challenges</a:t>
            </a:r>
          </a:p>
        </p:txBody>
      </p:sp>
      <p:sp>
        <p:nvSpPr>
          <p:cNvPr id="8" name="Body"/>
          <p:cNvSpPr txBox="1"/>
          <p:nvPr/>
        </p:nvSpPr>
        <p:spPr>
          <a:xfrm>
            <a:off x="3291840" y="1371600"/>
            <a:ext cx="2514600" cy="3383280"/>
          </a:xfrm>
          <a:prstGeom prst="rect">
            <a:avLst/>
          </a:prstGeom>
          <a:noFill/>
        </p:spPr>
        <p:txBody>
          <a:bodyPr wrap="square">
            <a:spAutoFit/>
          </a:bodyPr>
          <a:lstStyle/>
          <a:p>
            <a:pPr marL="228600" indent="-228600">
              <a:spcAft>
                <a:spcPts val="800"/>
              </a:spcAft>
              <a:buFont typeface="Arial"/>
              <a:buChar char="•"/>
            </a:pPr>
            <a:r>
              <a:rPr sz="1300" b="0" i="0">
                <a:solidFill>
                  <a:srgbClr val="000000"/>
                </a:solidFill>
                <a:latin typeface="Times New Roman"/>
              </a:rPr>
              <a:t>Shifted, overlapping character spans</a:t>
            </a:r>
          </a:p>
          <a:p>
            <a:pPr marL="228600" indent="-228600">
              <a:spcAft>
                <a:spcPts val="800"/>
              </a:spcAft>
              <a:buFont typeface="Arial"/>
              <a:buChar char="•"/>
            </a:pPr>
            <a:r>
              <a:rPr sz="1300" b="0" i="0">
                <a:solidFill>
                  <a:srgbClr val="000000"/>
                </a:solidFill>
                <a:latin typeface="Times New Roman"/>
              </a:rPr>
              <a:t>Sub-word ↔ word ↔ character alignment</a:t>
            </a:r>
          </a:p>
          <a:p>
            <a:pPr marL="228600" indent="-228600">
              <a:spcAft>
                <a:spcPts val="800"/>
              </a:spcAft>
              <a:buFont typeface="Arial"/>
              <a:buChar char="•"/>
            </a:pPr>
            <a:r>
              <a:rPr sz="1300" b="0" i="0">
                <a:solidFill>
                  <a:srgbClr val="000000"/>
                </a:solidFill>
                <a:latin typeface="Times New Roman"/>
              </a:rPr>
              <a:t>Resumes up to 3,684 words</a:t>
            </a:r>
          </a:p>
          <a:p>
            <a:pPr marL="228600" indent="-228600">
              <a:spcAft>
                <a:spcPts val="800"/>
              </a:spcAft>
              <a:buFont typeface="Arial"/>
              <a:buChar char="•"/>
            </a:pPr>
            <a:r>
              <a:rPr sz="1300" b="0" i="0">
                <a:solidFill>
                  <a:srgbClr val="000000"/>
                </a:solidFill>
                <a:latin typeface="Times New Roman"/>
              </a:rPr>
              <a:t>Small, noisy, imbalanced data</a:t>
            </a:r>
          </a:p>
        </p:txBody>
      </p:sp>
      <p:sp>
        <p:nvSpPr>
          <p:cNvPr id="9" name="Card Data quality"/>
          <p:cNvSpPr/>
          <p:nvPr/>
        </p:nvSpPr>
        <p:spPr>
          <a:xfrm>
            <a:off x="6080759" y="822960"/>
            <a:ext cx="2697480" cy="3017520"/>
          </a:xfrm>
          <a:prstGeom prst="roundRect">
            <a:avLst>
              <a:gd name="adj" fmla="val 5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ody"/>
          <p:cNvSpPr txBox="1"/>
          <p:nvPr/>
        </p:nvSpPr>
        <p:spPr>
          <a:xfrm>
            <a:off x="6172199" y="914400"/>
            <a:ext cx="2514600" cy="411480"/>
          </a:xfrm>
          <a:prstGeom prst="rect">
            <a:avLst/>
          </a:prstGeom>
          <a:noFill/>
        </p:spPr>
        <p:txBody>
          <a:bodyPr wrap="square">
            <a:spAutoFit/>
          </a:bodyPr>
          <a:lstStyle/>
          <a:p>
            <a:pPr>
              <a:spcAft>
                <a:spcPts val="600"/>
              </a:spcAft>
            </a:pPr>
            <a:r>
              <a:rPr sz="1700" b="1" i="0">
                <a:solidFill>
                  <a:srgbClr val="C00000"/>
                </a:solidFill>
                <a:latin typeface="Times New Roman"/>
              </a:rPr>
              <a:t>Data quality</a:t>
            </a:r>
          </a:p>
        </p:txBody>
      </p:sp>
      <p:sp>
        <p:nvSpPr>
          <p:cNvPr id="11" name="Body"/>
          <p:cNvSpPr txBox="1"/>
          <p:nvPr/>
        </p:nvSpPr>
        <p:spPr>
          <a:xfrm>
            <a:off x="6172199" y="1371600"/>
            <a:ext cx="2514600" cy="3383280"/>
          </a:xfrm>
          <a:prstGeom prst="rect">
            <a:avLst/>
          </a:prstGeom>
          <a:noFill/>
        </p:spPr>
        <p:txBody>
          <a:bodyPr wrap="square">
            <a:spAutoFit/>
          </a:bodyPr>
          <a:lstStyle/>
          <a:p>
            <a:pPr marL="228600" indent="-228600">
              <a:spcAft>
                <a:spcPts val="800"/>
              </a:spcAft>
              <a:buFont typeface="Arial"/>
              <a:buChar char="•"/>
            </a:pPr>
            <a:r>
              <a:rPr sz="1300" b="0" i="0">
                <a:solidFill>
                  <a:srgbClr val="000000"/>
                </a:solidFill>
                <a:latin typeface="Times New Roman"/>
              </a:rPr>
              <a:t>EMAIL = Indeed URLs only (250 spans)</a:t>
            </a:r>
          </a:p>
          <a:p>
            <a:pPr marL="228600" indent="-228600">
              <a:spcAft>
                <a:spcPts val="800"/>
              </a:spcAft>
              <a:buFont typeface="Arial"/>
              <a:buChar char="•"/>
            </a:pPr>
            <a:r>
              <a:rPr sz="1300" b="0" i="0">
                <a:solidFill>
                  <a:srgbClr val="000000"/>
                </a:solidFill>
                <a:latin typeface="Times New Roman"/>
              </a:rPr>
              <a:t>31 resumes with WORK EXPERIENCE but no company labelled</a:t>
            </a:r>
          </a:p>
          <a:p>
            <a:pPr marL="228600" indent="-228600">
              <a:spcAft>
                <a:spcPts val="800"/>
              </a:spcAft>
              <a:buFont typeface="Arial"/>
              <a:buChar char="•"/>
            </a:pPr>
            <a:r>
              <a:rPr sz="1300" b="0" i="0">
                <a:solidFill>
                  <a:srgbClr val="000000"/>
                </a:solidFill>
                <a:latin typeface="Times New Roman"/>
              </a:rPr>
              <a:t>GRADUATION_YEAR labelled in only 104 resumes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Conclusion and Future Work</a:t>
            </a:r>
          </a:p>
        </p:txBody>
      </p:sp>
      <p:sp>
        <p:nvSpPr>
          <p:cNvPr id="3" name="Stat test micro-F1 (%)"/>
          <p:cNvSpPr/>
          <p:nvPr/>
        </p:nvSpPr>
        <p:spPr>
          <a:xfrm>
            <a:off x="457200" y="822960"/>
            <a:ext cx="2651760" cy="100584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10.3 → 44.8</a:t>
            </a:r>
          </a:p>
          <a:p>
            <a:pPr algn="ctr"/>
            <a:r>
              <a:rPr sz="1200" b="0" i="0">
                <a:solidFill>
                  <a:srgbClr val="404040"/>
                </a:solidFill>
                <a:latin typeface="Times New Roman"/>
              </a:rPr>
              <a:t>test micro-F1 (%)</a:t>
            </a:r>
          </a:p>
        </p:txBody>
      </p:sp>
      <p:sp>
        <p:nvSpPr>
          <p:cNvPr id="4" name="Stat test macro-F1 (%)"/>
          <p:cNvSpPr/>
          <p:nvPr/>
        </p:nvSpPr>
        <p:spPr>
          <a:xfrm>
            <a:off x="457200" y="1965960"/>
            <a:ext cx="2651760" cy="100584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5.2 → 44.5</a:t>
            </a:r>
          </a:p>
          <a:p>
            <a:pPr algn="ctr"/>
            <a:r>
              <a:rPr sz="1200" b="0" i="0">
                <a:solidFill>
                  <a:srgbClr val="404040"/>
                </a:solidFill>
                <a:latin typeface="Times New Roman"/>
              </a:rPr>
              <a:t>test macro-F1 (%)</a:t>
            </a:r>
          </a:p>
        </p:txBody>
      </p:sp>
      <p:sp>
        <p:nvSpPr>
          <p:cNvPr id="5" name="Stat NAME F1 after fine-t"/>
          <p:cNvSpPr/>
          <p:nvPr/>
        </p:nvSpPr>
        <p:spPr>
          <a:xfrm>
            <a:off x="457200" y="3108960"/>
            <a:ext cx="2651760" cy="1005840"/>
          </a:xfrm>
          <a:prstGeom prst="roundRect">
            <a:avLst>
              <a:gd name="adj" fmla="val 12000"/>
            </a:avLst>
          </a:prstGeom>
          <a:solidFill>
            <a:srgbClr val="FBEC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C00000"/>
                </a:solidFill>
                <a:latin typeface="Times New Roman"/>
              </a:rPr>
              <a:t>82.9 %</a:t>
            </a:r>
          </a:p>
          <a:p>
            <a:pPr algn="ctr"/>
            <a:r>
              <a:rPr sz="1200" b="0" i="0">
                <a:solidFill>
                  <a:srgbClr val="404040"/>
                </a:solidFill>
                <a:latin typeface="Times New Roman"/>
              </a:rPr>
              <a:t>NAME F1 after fine-tuning</a:t>
            </a:r>
          </a:p>
        </p:txBody>
      </p:sp>
      <p:sp>
        <p:nvSpPr>
          <p:cNvPr id="6" name="Body"/>
          <p:cNvSpPr txBox="1"/>
          <p:nvPr/>
        </p:nvSpPr>
        <p:spPr>
          <a:xfrm>
            <a:off x="3383280" y="822960"/>
            <a:ext cx="2651760" cy="4023360"/>
          </a:xfrm>
          <a:prstGeom prst="rect">
            <a:avLst/>
          </a:prstGeom>
          <a:noFill/>
        </p:spPr>
        <p:txBody>
          <a:bodyPr wrap="square">
            <a:spAutoFit/>
          </a:bodyPr>
          <a:lstStyle/>
          <a:p>
            <a:pPr marL="228600" indent="-228600">
              <a:spcAft>
                <a:spcPts val="600"/>
              </a:spcAft>
              <a:buFont typeface="Arial"/>
              <a:buChar char="•"/>
            </a:pPr>
            <a:r>
              <a:rPr sz="1400" b="1" i="0">
                <a:solidFill>
                  <a:srgbClr val="000000"/>
                </a:solidFill>
                <a:latin typeface="Times New Roman"/>
              </a:rPr>
              <a:t>Learned</a:t>
            </a:r>
          </a:p>
          <a:p>
            <a:pPr marL="228600" indent="-228600">
              <a:spcAft>
                <a:spcPts val="600"/>
              </a:spcAft>
              <a:buFont typeface="Arial"/>
              <a:buChar char="•"/>
            </a:pPr>
            <a:r>
              <a:rPr sz="1400" b="0" i="0">
                <a:solidFill>
                  <a:srgbClr val="000000"/>
                </a:solidFill>
                <a:latin typeface="Times New Roman"/>
              </a:rPr>
              <a:t>Pretrained NER does not transfer when labels and guidelines differ</a:t>
            </a:r>
          </a:p>
          <a:p>
            <a:pPr marL="228600" indent="-228600">
              <a:spcAft>
                <a:spcPts val="600"/>
              </a:spcAft>
              <a:buFont typeface="Arial"/>
              <a:buChar char="•"/>
            </a:pPr>
            <a:r>
              <a:rPr sz="1400" b="0" i="0">
                <a:solidFill>
                  <a:srgbClr val="000000"/>
                </a:solidFill>
                <a:latin typeface="Times New Roman"/>
              </a:rPr>
              <a:t>Fine-tuning is data-efficient</a:t>
            </a:r>
          </a:p>
          <a:p>
            <a:pPr marL="228600" indent="-228600">
              <a:spcAft>
                <a:spcPts val="600"/>
              </a:spcAft>
              <a:buFont typeface="Arial"/>
              <a:buChar char="•"/>
            </a:pPr>
            <a:r>
              <a:rPr sz="1400" b="0" i="0">
                <a:solidFill>
                  <a:srgbClr val="000000"/>
                </a:solidFill>
                <a:latin typeface="Times New Roman"/>
              </a:rPr>
              <a:t>Strict entity F1 + validation-only selection + CV</a:t>
            </a:r>
          </a:p>
          <a:p>
            <a:pPr marL="228600" indent="-228600">
              <a:spcAft>
                <a:spcPts val="600"/>
              </a:spcAft>
              <a:buFont typeface="Arial"/>
              <a:buChar char="•"/>
            </a:pPr>
            <a:r>
              <a:rPr sz="1400" b="0" i="0">
                <a:solidFill>
                  <a:srgbClr val="000000"/>
                </a:solidFill>
                <a:latin typeface="Times New Roman"/>
              </a:rPr>
              <a:t>Data quality is the ceiling</a:t>
            </a:r>
          </a:p>
        </p:txBody>
      </p:sp>
      <p:sp>
        <p:nvSpPr>
          <p:cNvPr id="7" name="Body"/>
          <p:cNvSpPr txBox="1"/>
          <p:nvPr/>
        </p:nvSpPr>
        <p:spPr>
          <a:xfrm>
            <a:off x="6217920" y="822960"/>
            <a:ext cx="2651760" cy="4023360"/>
          </a:xfrm>
          <a:prstGeom prst="rect">
            <a:avLst/>
          </a:prstGeom>
          <a:noFill/>
        </p:spPr>
        <p:txBody>
          <a:bodyPr wrap="square">
            <a:spAutoFit/>
          </a:bodyPr>
          <a:lstStyle/>
          <a:p>
            <a:pPr marL="228600" indent="-228600">
              <a:spcAft>
                <a:spcPts val="600"/>
              </a:spcAft>
              <a:buFont typeface="Arial"/>
              <a:buChar char="•"/>
            </a:pPr>
            <a:r>
              <a:rPr sz="1400" b="1" i="0">
                <a:solidFill>
                  <a:srgbClr val="000000"/>
                </a:solidFill>
                <a:latin typeface="Times New Roman"/>
              </a:rPr>
              <a:t>Future work</a:t>
            </a:r>
          </a:p>
          <a:p>
            <a:pPr marL="228600" indent="-228600">
              <a:spcAft>
                <a:spcPts val="600"/>
              </a:spcAft>
              <a:buFont typeface="Arial"/>
              <a:buChar char="•"/>
            </a:pPr>
            <a:r>
              <a:rPr sz="1400" b="0" i="0">
                <a:solidFill>
                  <a:srgbClr val="000000"/>
                </a:solidFill>
                <a:latin typeface="Times New Roman"/>
              </a:rPr>
              <a:t>Layout-aware models (LayoutLM)</a:t>
            </a:r>
          </a:p>
          <a:p>
            <a:pPr marL="228600" indent="-228600">
              <a:spcAft>
                <a:spcPts val="600"/>
              </a:spcAft>
              <a:buFont typeface="Arial"/>
              <a:buChar char="•"/>
            </a:pPr>
            <a:r>
              <a:rPr sz="1400" b="0" i="0">
                <a:solidFill>
                  <a:srgbClr val="000000"/>
                </a:solidFill>
                <a:latin typeface="Times New Roman"/>
              </a:rPr>
              <a:t>Cleaner, larger annotation</a:t>
            </a:r>
          </a:p>
          <a:p>
            <a:pPr marL="228600" indent="-228600">
              <a:spcAft>
                <a:spcPts val="600"/>
              </a:spcAft>
              <a:buFont typeface="Arial"/>
              <a:buChar char="•"/>
            </a:pPr>
            <a:r>
              <a:rPr sz="1400" b="0" i="0">
                <a:solidFill>
                  <a:srgbClr val="000000"/>
                </a:solidFill>
                <a:latin typeface="Times New Roman"/>
              </a:rPr>
              <a:t>LLM-based JSON extraction</a:t>
            </a:r>
          </a:p>
          <a:p>
            <a:pPr marL="228600" indent="-228600">
              <a:spcAft>
                <a:spcPts val="600"/>
              </a:spcAft>
              <a:buFont typeface="Arial"/>
              <a:buChar char="•"/>
            </a:pPr>
            <a:r>
              <a:rPr sz="1400" b="0" i="0">
                <a:solidFill>
                  <a:srgbClr val="000000"/>
                </a:solidFill>
                <a:latin typeface="Times New Roman"/>
              </a:rPr>
              <a:t>CRF / partial-match metrics</a:t>
            </a:r>
          </a:p>
          <a:p>
            <a:pPr marL="228600" indent="-228600">
              <a:spcAft>
                <a:spcPts val="600"/>
              </a:spcAft>
              <a:buFont typeface="Arial"/>
              <a:buChar char="•"/>
            </a:pPr>
            <a:r>
              <a:rPr sz="1400" b="0" i="0">
                <a:solidFill>
                  <a:srgbClr val="000000"/>
                </a:solidFill>
                <a:latin typeface="Times New Roman"/>
              </a:rPr>
              <a:t>Fairness and bias audit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0" y="45720"/>
            <a:ext cx="9144000" cy="566928"/>
          </a:xfrm>
          <a:prstGeom prst="rect">
            <a:avLst/>
          </a:prstGeom>
          <a:noFill/>
        </p:spPr>
        <p:txBody>
          <a:bodyPr wrap="square">
            <a:spAutoFit/>
          </a:bodyPr>
          <a:lstStyle/>
          <a:p>
            <a:pPr algn="ctr"/>
            <a:r>
              <a:rPr sz="3000" b="0" i="0">
                <a:solidFill>
                  <a:srgbClr val="C00000"/>
                </a:solidFill>
                <a:latin typeface="Times New Roman"/>
              </a:rPr>
              <a:t>References</a:t>
            </a:r>
          </a:p>
        </p:txBody>
      </p:sp>
      <p:sp>
        <p:nvSpPr>
          <p:cNvPr id="3" name="Body"/>
          <p:cNvSpPr txBox="1"/>
          <p:nvPr/>
        </p:nvSpPr>
        <p:spPr>
          <a:xfrm>
            <a:off x="457200" y="777240"/>
            <a:ext cx="8229600" cy="4206240"/>
          </a:xfrm>
          <a:prstGeom prst="rect">
            <a:avLst/>
          </a:prstGeom>
          <a:noFill/>
        </p:spPr>
        <p:txBody>
          <a:bodyPr wrap="square">
            <a:spAutoFit/>
          </a:bodyPr>
          <a:lstStyle/>
          <a:p>
            <a:pPr>
              <a:spcAft>
                <a:spcPts val="500"/>
              </a:spcAft>
            </a:pPr>
            <a:r>
              <a:rPr sz="1200" b="0" i="0">
                <a:solidFill>
                  <a:srgbClr val="000000"/>
                </a:solidFill>
                <a:latin typeface="Times New Roman"/>
              </a:rPr>
              <a:t>[1] J. Devlin et al., "BERT: Pre-training of deep bidirectional transformers for language understanding," NAACL-HLT, 2019.</a:t>
            </a:r>
          </a:p>
          <a:p>
            <a:pPr>
              <a:spcAft>
                <a:spcPts val="500"/>
              </a:spcAft>
            </a:pPr>
            <a:r>
              <a:rPr sz="1200" b="0" i="0">
                <a:solidFill>
                  <a:srgbClr val="000000"/>
                </a:solidFill>
                <a:latin typeface="Times New Roman"/>
              </a:rPr>
              <a:t>[2] A. Vaswani et al., "Attention is all you need," NeurIPS, 2017.</a:t>
            </a:r>
          </a:p>
          <a:p>
            <a:pPr>
              <a:spcAft>
                <a:spcPts val="500"/>
              </a:spcAft>
            </a:pPr>
            <a:r>
              <a:rPr sz="1200" b="0" i="0">
                <a:solidFill>
                  <a:srgbClr val="000000"/>
                </a:solidFill>
                <a:latin typeface="Times New Roman"/>
              </a:rPr>
              <a:t>[3] E. F. Tjong Kim Sang and F. De Meulder, "Introduction to the CoNLL-2003 shared task," CoNLL, 2003.</a:t>
            </a:r>
          </a:p>
          <a:p>
            <a:pPr>
              <a:spcAft>
                <a:spcPts val="500"/>
              </a:spcAft>
            </a:pPr>
            <a:r>
              <a:rPr sz="1200" b="0" i="0">
                <a:solidFill>
                  <a:srgbClr val="000000"/>
                </a:solidFill>
                <a:latin typeface="Times New Roman"/>
              </a:rPr>
              <a:t>[4] dslim, "bert-base-NER," Hugging Face model card, huggingface.co/dslim/bert-base-NER.</a:t>
            </a:r>
          </a:p>
          <a:p>
            <a:pPr>
              <a:spcAft>
                <a:spcPts val="500"/>
              </a:spcAft>
            </a:pPr>
            <a:r>
              <a:rPr sz="1200" b="0" i="0">
                <a:solidFill>
                  <a:srgbClr val="000000"/>
                </a:solidFill>
                <a:latin typeface="Times New Roman"/>
              </a:rPr>
              <a:t>[5] DataTurks, "Resume Entities for NER," Kaggle, kaggle.com/datasets/dataturks/resume-entities-for-ner.</a:t>
            </a:r>
          </a:p>
          <a:p>
            <a:pPr>
              <a:spcAft>
                <a:spcPts val="500"/>
              </a:spcAft>
            </a:pPr>
            <a:r>
              <a:rPr sz="1200" b="0" i="0">
                <a:solidFill>
                  <a:srgbClr val="000000"/>
                </a:solidFill>
                <a:latin typeface="Times New Roman"/>
              </a:rPr>
              <a:t>[6] T. Wolf et al., "Transformers: State-of-the-art natural language processing," EMNLP Demos, 2020.</a:t>
            </a:r>
          </a:p>
          <a:p>
            <a:pPr>
              <a:spcAft>
                <a:spcPts val="500"/>
              </a:spcAft>
            </a:pPr>
            <a:r>
              <a:rPr sz="1200" b="0" i="0">
                <a:solidFill>
                  <a:srgbClr val="000000"/>
                </a:solidFill>
                <a:latin typeface="Times New Roman"/>
              </a:rPr>
              <a:t>[7] H. Nakayama, "seqeval: A Python framework for sequence labeling evaluation," 2018.</a:t>
            </a:r>
          </a:p>
          <a:p>
            <a:pPr>
              <a:spcAft>
                <a:spcPts val="500"/>
              </a:spcAft>
            </a:pPr>
            <a:r>
              <a:rPr sz="1200" b="0" i="0">
                <a:solidFill>
                  <a:srgbClr val="000000"/>
                </a:solidFill>
                <a:latin typeface="Times New Roman"/>
              </a:rPr>
              <a:t>[8] Y. Xu et al., "LayoutLM: Pre-training of text and layout for document image understanding," KDD, 2020.</a:t>
            </a:r>
          </a:p>
          <a:p>
            <a:pPr>
              <a:spcAft>
                <a:spcPts val="500"/>
              </a:spcAft>
            </a:pPr>
            <a:r>
              <a:rPr sz="1200" b="0" i="0">
                <a:solidFill>
                  <a:srgbClr val="000000"/>
                </a:solidFill>
                <a:latin typeface="Times New Roman"/>
              </a:rPr>
              <a:t>[9] M. Raghavan et al., "Mitigating bias in algorithmic hiring: Evaluating claims and practices," FAT*, 2020.</a:t>
            </a:r>
          </a:p>
          <a:p>
            <a:pPr>
              <a:spcAft>
                <a:spcPts val="500"/>
              </a:spcAft>
            </a:pPr>
            <a:r>
              <a:rPr sz="1200" b="0" i="0">
                <a:solidFill>
                  <a:srgbClr val="000000"/>
                </a:solidFill>
                <a:latin typeface="Times New Roman"/>
              </a:rPr>
              <a:t>[10] Affinda and Textkernel resume-parser API documentation (docs.affinda.com, developer.textkernel.com).</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122</Words>
  <Application>Microsoft Office PowerPoint</Application>
  <PresentationFormat>On-screen Show (16:9)</PresentationFormat>
  <Paragraphs>30</Paragraphs>
  <Slides>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Times New Roman</vt:lpstr>
      <vt:lpstr>Calibri</vt:lpstr>
      <vt:lpstr>Corsiva</vt:lpstr>
      <vt:lpstr>Arial</vt:lpstr>
      <vt:lpstr>Times</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Upeksha Prasad G</cp:lastModifiedBy>
  <cp:revision>9</cp:revision>
  <dcterms:modified xsi:type="dcterms:W3CDTF">2026-10-01T18:21:40Z</dcterms:modified>
</cp:coreProperties>
</file>